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309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14159" y="391160"/>
            <a:ext cx="514350" cy="1777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0" b="1" sz="1400">
                <a:solidFill>
                  <a:srgbClr val="2980B9"/>
                </a:solidFill>
                <a:latin typeface="Roboto"/>
              </a:rPr>
              <a:t>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800" y="496570"/>
            <a:ext cx="15748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b="1" sz="1600">
                <a:solidFill>
                  <a:srgbClr val="E67E22"/>
                </a:solidFill>
                <a:latin typeface="Noto Sans Symbols"/>
              </a:rPr>
              <a:t>☁</a:t>
            </a:r>
            <a:r>
              <a:rPr spc="87" b="1" sz="1400">
                <a:solidFill>
                  <a:srgbClr val="2C3E50"/>
                </a:solidFill>
                <a:latin typeface="Roboto"/>
              </a:rPr>
              <a:t>SMARTBRIDGE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18909" y="659130"/>
            <a:ext cx="5803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sz="1100">
                <a:solidFill>
                  <a:srgbClr val="2980B9"/>
                </a:solidFill>
                <a:latin typeface="Roboto"/>
              </a:rPr>
              <a:t>WALLE</a:t>
            </a:r>
            <a:r>
              <a:rPr spc="-15" sz="1100">
                <a:solidFill>
                  <a:srgbClr val="FFFFFF"/>
                </a:solidFill>
                <a:highlight>
                  <a:srgbClr val="2880b8">
                    <a:alpha val="100000"/>
                  </a:srgbClr>
                </a:highlight>
                <a:latin typeface="Roboto"/>
              </a:rPr>
              <a:t>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38120" y="1013460"/>
            <a:ext cx="208407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b="1" sz="1400">
                <a:solidFill>
                  <a:srgbClr val="333333"/>
                </a:solidFill>
                <a:latin typeface="Roboto"/>
              </a:rPr>
              <a:t>Scalability &amp; Future Plan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5609" y="1343660"/>
          <a:ext cx="6686548" cy="10693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2589"/>
                <a:gridCol w="5013959"/>
              </a:tblGrid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77470" algn="l">
                        <a:lnSpc>
                          <a:spcPts val="950"/>
                        </a:lnSpc>
                      </a:pPr>
                      <a:r>
                        <a:rPr spc="23" b="1" sz="950">
                          <a:solidFill>
                            <a:srgbClr val="333333"/>
                          </a:solidFill>
                          <a:latin typeface="Roboto"/>
                        </a:rPr>
                        <a:t>Date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76200" algn="l">
                        <a:lnSpc>
                          <a:spcPts val="950"/>
                        </a:lnSpc>
                      </a:pPr>
                      <a:r>
                        <a:rPr spc="-3" sz="950">
                          <a:solidFill>
                            <a:srgbClr val="333333"/>
                          </a:solidFill>
                          <a:latin typeface="Roboto"/>
                        </a:rPr>
                        <a:t>15 March 2026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77470" algn="l">
                        <a:lnSpc>
                          <a:spcPts val="950"/>
                        </a:lnSpc>
                      </a:pPr>
                      <a:r>
                        <a:rPr spc="13" b="1" sz="950">
                          <a:solidFill>
                            <a:srgbClr val="333333"/>
                          </a:solidFill>
                          <a:latin typeface="Roboto"/>
                        </a:rPr>
                        <a:t>Team ID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76200" algn="l">
                        <a:lnSpc>
                          <a:spcPts val="950"/>
                        </a:lnSpc>
                      </a:pPr>
                      <a:r>
                        <a:rPr spc="17" sz="950">
                          <a:solidFill>
                            <a:srgbClr val="333333"/>
                          </a:solidFill>
                          <a:latin typeface="Roboto"/>
                        </a:rPr>
                        <a:t>SWTID-2026-9392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77470" algn="l">
                        <a:lnSpc>
                          <a:spcPts val="950"/>
                        </a:lnSpc>
                      </a:pPr>
                      <a:r>
                        <a:rPr spc="25" b="1" sz="950">
                          <a:solidFill>
                            <a:srgbClr val="333333"/>
                          </a:solidFill>
                          <a:latin typeface="Roboto"/>
                        </a:rPr>
                        <a:t>Project Name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76200" algn="l">
                        <a:lnSpc>
                          <a:spcPts val="950"/>
                        </a:lnSpc>
                      </a:pPr>
                      <a:r>
                        <a:rPr spc="3" sz="950">
                          <a:solidFill>
                            <a:srgbClr val="333333"/>
                          </a:solidFill>
                          <a:latin typeface="Roboto"/>
                        </a:rPr>
                        <a:t>ComicCraft - AI Comic Story Creator using Gemini Models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7969"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7470" algn="l">
                        <a:lnSpc>
                          <a:spcPts val="950"/>
                        </a:lnSpc>
                      </a:pPr>
                      <a:r>
                        <a:rPr spc="21" b="1" sz="950">
                          <a:solidFill>
                            <a:srgbClr val="333333"/>
                          </a:solidFill>
                          <a:latin typeface="Roboto"/>
                        </a:rPr>
                        <a:t>Maximum Marks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6200" algn="l">
                        <a:lnSpc>
                          <a:spcPts val="950"/>
                        </a:lnSpc>
                      </a:pPr>
                      <a:r>
                        <a:rPr spc="-2" sz="950">
                          <a:solidFill>
                            <a:srgbClr val="333333"/>
                          </a:solidFill>
                          <a:latin typeface="Roboto"/>
                        </a:rPr>
                        <a:t>1 Mark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1800" y="2581910"/>
            <a:ext cx="15303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b="1" sz="1000">
                <a:solidFill>
                  <a:srgbClr val="333333"/>
                </a:solidFill>
                <a:latin typeface="Roboto"/>
              </a:rPr>
              <a:t>Scalability &amp; Future Plan: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800" y="2790190"/>
            <a:ext cx="66941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9" sz="900">
                <a:solidFill>
                  <a:srgbClr val="444444"/>
                </a:solidFill>
                <a:latin typeface="Roboto"/>
              </a:rPr>
              <a:t>This document outlines how the current project solution can be scaled to handle larger user bases, increased data loads, 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" y="2943860"/>
            <a:ext cx="66357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900">
                <a:solidFill>
                  <a:srgbClr val="444444"/>
                </a:solidFill>
                <a:latin typeface="Roboto"/>
              </a:rPr>
              <a:t>extended features in the future. It also captures the team's roadmap for enhancing and evolving the project beyond its current state.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" y="3195320"/>
            <a:ext cx="169798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b="1" sz="1000">
                <a:solidFill>
                  <a:srgbClr val="333333"/>
                </a:solidFill>
                <a:latin typeface="Roboto"/>
              </a:rPr>
              <a:t>Current System Limitations: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35609" y="3389629"/>
          <a:ext cx="6686548" cy="21666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590"/>
                <a:gridCol w="2941320"/>
                <a:gridCol w="2340609"/>
                <a:gridCol w="1002029"/>
              </a:tblGrid>
              <a:tr h="539750"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30" b="1" sz="850">
                          <a:solidFill>
                            <a:srgbClr val="333333"/>
                          </a:solidFill>
                          <a:latin typeface="Roboto"/>
                        </a:rPr>
                        <a:t>S.No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</a:p>
                    <a:p>
                      <a:pPr marL="66040" algn="l">
                        <a:lnSpc>
                          <a:spcPts val="850"/>
                        </a:lnSpc>
                      </a:pPr>
                      <a:r>
                        <a:rPr spc="25" b="1" sz="850">
                          <a:solidFill>
                            <a:srgbClr val="333333"/>
                          </a:solidFill>
                          <a:latin typeface="Roboto"/>
                        </a:rPr>
                        <a:t>Limitation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</a:p>
                    <a:p>
                      <a:pPr marL="67310" algn="l">
                        <a:lnSpc>
                          <a:spcPts val="850"/>
                        </a:lnSpc>
                      </a:pPr>
                      <a:r>
                        <a:rPr spc="16" b="1" sz="850">
                          <a:solidFill>
                            <a:srgbClr val="333333"/>
                          </a:solidFill>
                          <a:latin typeface="Roboto"/>
                        </a:rPr>
                        <a:t>Impact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"/>
                        </a:lnSpc>
                      </a:pPr>
                    </a:p>
                    <a:p>
                      <a:pPr marL="66040" algn="l">
                        <a:lnSpc>
                          <a:spcPts val="1150"/>
                        </a:lnSpc>
                      </a:pPr>
                      <a:r>
                        <a:rPr spc="31" b="1" sz="850">
                          <a:solidFill>
                            <a:srgbClr val="333333"/>
                          </a:solidFill>
                          <a:latin typeface="Roboto"/>
                        </a:rPr>
                        <a:t>Priority to</a:t>
                      </a:r>
                      <a:br/>
                      <a:r>
                        <a:rPr spc="21" b="1" sz="850">
                          <a:solidFill>
                            <a:srgbClr val="333333"/>
                          </a:solidFill>
                          <a:latin typeface="Roboto"/>
                        </a:rPr>
                        <a:t>Address (High /</a:t>
                      </a:r>
                      <a:br/>
                      <a:r>
                        <a:rPr spc="11" b="1" sz="850">
                          <a:solidFill>
                            <a:srgbClr val="333333"/>
                          </a:solidFill>
                          <a:latin typeface="Roboto"/>
                        </a:rPr>
                        <a:t>Medium / Low)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542290"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333333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66040" algn="l">
                        <a:lnSpc>
                          <a:spcPts val="850"/>
                        </a:lnSpc>
                      </a:pPr>
                      <a:r>
                        <a:rPr spc="1" sz="850">
                          <a:solidFill>
                            <a:srgbClr val="333333"/>
                          </a:solidFill>
                          <a:latin typeface="Roboto"/>
                        </a:rPr>
                        <a:t>Gemini API Rate Limiting on free tier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0"/>
                        </a:lnSpc>
                      </a:pPr>
                    </a:p>
                    <a:p>
                      <a:pPr marL="67310" algn="l">
                        <a:lnSpc>
                          <a:spcPts val="1140"/>
                        </a:lnSpc>
                      </a:pPr>
                      <a:r>
                        <a:rPr spc="-4" sz="850">
                          <a:solidFill>
                            <a:srgbClr val="333333"/>
                          </a:solidFill>
                          <a:latin typeface="Roboto"/>
                        </a:rPr>
                        <a:t>Potential delays or failures when generating</a:t>
                      </a:r>
                      <a:br/>
                      <a:r>
                        <a:rPr spc="-5" sz="850">
                          <a:solidFill>
                            <a:srgbClr val="333333"/>
                          </a:solidFill>
                          <a:latin typeface="Roboto"/>
                        </a:rPr>
                        <a:t>multiple panels simultaneously during high</a:t>
                      </a:r>
                      <a:br/>
                      <a:r>
                        <a:rPr spc="-25" sz="850">
                          <a:solidFill>
                            <a:srgbClr val="333333"/>
                          </a:solidFill>
                          <a:latin typeface="Roboto"/>
                        </a:rPr>
                        <a:t>traffic.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5" sz="850">
                          <a:solidFill>
                            <a:srgbClr val="333333"/>
                          </a:solidFill>
                          <a:latin typeface="Roboto"/>
                        </a:rPr>
                        <a:t>High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43559">
                <a:tc>
                  <a:txBody>
                    <a:bodyPr/>
                    <a:lstStyle/>
                    <a:p>
                      <a:pPr>
                        <a:lnSpc>
                          <a:spcPts val="52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333333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20"/>
                        </a:lnSpc>
                      </a:pPr>
                    </a:p>
                    <a:p>
                      <a:pPr marL="66040" algn="l">
                        <a:lnSpc>
                          <a:spcPts val="850"/>
                        </a:lnSpc>
                      </a:pPr>
                      <a:r>
                        <a:rPr spc="2" sz="850">
                          <a:solidFill>
                            <a:srgbClr val="333333"/>
                          </a:solidFill>
                          <a:latin typeface="Roboto"/>
                        </a:rPr>
                        <a:t>Client-side Canvas Rendering constraints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"/>
                        </a:lnSpc>
                      </a:pPr>
                    </a:p>
                    <a:p>
                      <a:pPr marL="67310" algn="l">
                        <a:lnSpc>
                          <a:spcPts val="1150"/>
                        </a:lnSpc>
                      </a:pPr>
                      <a:r>
                        <a:rPr spc="-2" sz="850">
                          <a:solidFill>
                            <a:srgbClr val="333333"/>
                          </a:solidFill>
                          <a:latin typeface="Roboto"/>
                        </a:rPr>
                        <a:t>Slight latency when manipulating high-</a:t>
                      </a:r>
                      <a:br/>
                      <a:r>
                        <a:rPr spc="-6" sz="850">
                          <a:solidFill>
                            <a:srgbClr val="333333"/>
                          </a:solidFill>
                          <a:latin typeface="Roboto"/>
                        </a:rPr>
                        <a:t>resolution multi-panel comic assets on lower-</a:t>
                      </a:r>
                      <a:br/>
                      <a:r>
                        <a:rPr spc="2" sz="850">
                          <a:solidFill>
                            <a:srgbClr val="333333"/>
                          </a:solidFill>
                          <a:latin typeface="Roboto"/>
                        </a:rPr>
                        <a:t>end devices.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2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13" sz="850">
                          <a:solidFill>
                            <a:srgbClr val="333333"/>
                          </a:solidFill>
                          <a:latin typeface="Roboto"/>
                        </a:rPr>
                        <a:t>Medium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333333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445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</a:p>
                    <a:p>
                      <a:pPr marL="66040" algn="l">
                        <a:lnSpc>
                          <a:spcPts val="850"/>
                        </a:lnSpc>
                      </a:pPr>
                      <a:r>
                        <a:rPr spc="0" sz="850">
                          <a:solidFill>
                            <a:srgbClr val="333333"/>
                          </a:solidFill>
                          <a:latin typeface="Roboto"/>
                        </a:rPr>
                        <a:t>Local Storage Dependency for saved drafts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445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"/>
                        </a:lnSpc>
                      </a:pPr>
                    </a:p>
                    <a:p>
                      <a:pPr marL="67310" algn="l">
                        <a:lnSpc>
                          <a:spcPts val="1150"/>
                        </a:lnSpc>
                      </a:pPr>
                      <a:r>
                        <a:rPr spc="-4" sz="850">
                          <a:solidFill>
                            <a:srgbClr val="333333"/>
                          </a:solidFill>
                          <a:latin typeface="Roboto"/>
                        </a:rPr>
                        <a:t>Comic drafts are tied to a single browser</a:t>
                      </a:r>
                      <a:br/>
                      <a:r>
                        <a:rPr spc="-5" sz="850">
                          <a:solidFill>
                            <a:srgbClr val="333333"/>
                          </a:solidFill>
                          <a:latin typeface="Roboto"/>
                        </a:rPr>
                        <a:t>session and not synced across multiple</a:t>
                      </a:r>
                      <a:br/>
                      <a:r>
                        <a:rPr spc="-3" sz="850">
                          <a:solidFill>
                            <a:srgbClr val="333333"/>
                          </a:solidFill>
                          <a:latin typeface="Roboto"/>
                        </a:rPr>
                        <a:t>devices.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445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13" sz="850">
                          <a:solidFill>
                            <a:srgbClr val="333333"/>
                          </a:solidFill>
                          <a:latin typeface="Roboto"/>
                        </a:rPr>
                        <a:t>Medium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445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31800" y="5697220"/>
            <a:ext cx="97536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1000">
                <a:solidFill>
                  <a:srgbClr val="333333"/>
                </a:solidFill>
                <a:latin typeface="Roboto"/>
              </a:rPr>
              <a:t>Scalability Plan: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35609" y="5887720"/>
          <a:ext cx="6686549" cy="18364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590"/>
                <a:gridCol w="1605280"/>
                <a:gridCol w="2339340"/>
                <a:gridCol w="2339339"/>
              </a:tblGrid>
              <a:tr h="251459"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30" b="1" sz="850">
                          <a:solidFill>
                            <a:srgbClr val="333333"/>
                          </a:solidFill>
                          <a:latin typeface="Roboto"/>
                        </a:rPr>
                        <a:t>S.No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66040" algn="l">
                        <a:lnSpc>
                          <a:spcPts val="850"/>
                        </a:lnSpc>
                      </a:pPr>
                      <a:r>
                        <a:rPr spc="32" b="1" sz="850">
                          <a:solidFill>
                            <a:srgbClr val="333333"/>
                          </a:solidFill>
                          <a:latin typeface="Roboto"/>
                        </a:rPr>
                        <a:t>Scalability Aspect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66040" algn="l">
                        <a:lnSpc>
                          <a:spcPts val="850"/>
                        </a:lnSpc>
                      </a:pPr>
                      <a:r>
                        <a:rPr spc="30" b="1" sz="850">
                          <a:solidFill>
                            <a:srgbClr val="333333"/>
                          </a:solidFill>
                          <a:latin typeface="Roboto"/>
                        </a:rPr>
                        <a:t>Current State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66040" algn="l">
                        <a:lnSpc>
                          <a:spcPts val="850"/>
                        </a:lnSpc>
                      </a:pPr>
                      <a:r>
                        <a:rPr spc="29" b="1" sz="850">
                          <a:solidFill>
                            <a:srgbClr val="333333"/>
                          </a:solidFill>
                          <a:latin typeface="Roboto"/>
                        </a:rPr>
                        <a:t>Proposed Upgrade / Solution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333333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66040" algn="l">
                        <a:lnSpc>
                          <a:spcPts val="850"/>
                        </a:lnSpc>
                      </a:pPr>
                      <a:r>
                        <a:rPr spc="9" sz="850">
                          <a:solidFill>
                            <a:srgbClr val="333333"/>
                          </a:solidFill>
                          <a:latin typeface="Roboto"/>
                        </a:rPr>
                        <a:t>User Load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0"/>
                        </a:lnSpc>
                      </a:pPr>
                    </a:p>
                    <a:p>
                      <a:pPr marL="66040" algn="l">
                        <a:lnSpc>
                          <a:spcPts val="1140"/>
                        </a:lnSpc>
                      </a:pPr>
                      <a:r>
                        <a:rPr spc="-2" sz="850">
                          <a:solidFill>
                            <a:srgbClr val="333333"/>
                          </a:solidFill>
                          <a:latin typeface="Roboto"/>
                        </a:rPr>
                        <a:t>Single instance local server / basic</a:t>
                      </a:r>
                      <a:br/>
                      <a:r>
                        <a:rPr spc="-8" sz="850">
                          <a:solidFill>
                            <a:srgbClr val="333333"/>
                          </a:solidFill>
                          <a:latin typeface="Roboto"/>
                        </a:rPr>
                        <a:t>deployment.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0"/>
                        </a:lnSpc>
                      </a:pPr>
                    </a:p>
                    <a:p>
                      <a:pPr marL="66040" algn="l">
                        <a:lnSpc>
                          <a:spcPts val="1140"/>
                        </a:lnSpc>
                      </a:pPr>
                      <a:r>
                        <a:rPr spc="3" sz="850">
                          <a:solidFill>
                            <a:srgbClr val="333333"/>
                          </a:solidFill>
                          <a:latin typeface="Roboto"/>
                        </a:rPr>
                        <a:t>Deploy to Cloud (AWS/GCP) with Auto-</a:t>
                      </a:r>
                      <a:br/>
                      <a:r>
                        <a:rPr spc="3" sz="850">
                          <a:solidFill>
                            <a:srgbClr val="333333"/>
                          </a:solidFill>
                          <a:latin typeface="Roboto"/>
                        </a:rPr>
                        <a:t>Scaling and Load Balancing.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94969">
                <a:tc>
                  <a:txBody>
                    <a:bodyPr/>
                    <a:lstStyle/>
                    <a:p>
                      <a:pPr>
                        <a:lnSpc>
                          <a:spcPts val="52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333333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20"/>
                        </a:lnSpc>
                      </a:pPr>
                    </a:p>
                    <a:p>
                      <a:pPr marL="66040" algn="l">
                        <a:lnSpc>
                          <a:spcPts val="850"/>
                        </a:lnSpc>
                      </a:pPr>
                      <a:r>
                        <a:rPr spc="3" sz="850">
                          <a:solidFill>
                            <a:srgbClr val="333333"/>
                          </a:solidFill>
                          <a:latin typeface="Roboto"/>
                        </a:rPr>
                        <a:t>Data Storage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20"/>
                        </a:lnSpc>
                      </a:pPr>
                    </a:p>
                    <a:p>
                      <a:pPr marL="66040" algn="l">
                        <a:lnSpc>
                          <a:spcPts val="850"/>
                        </a:lnSpc>
                      </a:pPr>
                      <a:r>
                        <a:rPr spc="2" sz="850">
                          <a:solidFill>
                            <a:srgbClr val="333333"/>
                          </a:solidFill>
                          <a:latin typeface="Roboto"/>
                        </a:rPr>
                        <a:t>Local Storage &amp; in-memory caching.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9"/>
                        </a:lnSpc>
                      </a:pPr>
                    </a:p>
                    <a:p>
                      <a:pPr marL="66040" algn="l">
                        <a:lnSpc>
                          <a:spcPts val="1140"/>
                        </a:lnSpc>
                      </a:pPr>
                      <a:r>
                        <a:rPr spc="-2" sz="850">
                          <a:solidFill>
                            <a:srgbClr val="333333"/>
                          </a:solidFill>
                          <a:latin typeface="Roboto"/>
                        </a:rPr>
                        <a:t>Migrate to Cloud Database (PostgreSQL/</a:t>
                      </a:r>
                      <a:br/>
                      <a:r>
                        <a:rPr spc="0" sz="850">
                          <a:solidFill>
                            <a:srgbClr val="333333"/>
                          </a:solidFill>
                          <a:latin typeface="Roboto"/>
                        </a:rPr>
                        <a:t>MongoDB) + S3 for asset storage.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333333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66040" algn="l">
                        <a:lnSpc>
                          <a:spcPts val="850"/>
                        </a:lnSpc>
                      </a:pPr>
                      <a:r>
                        <a:rPr spc="-6" sz="850">
                          <a:solidFill>
                            <a:srgbClr val="333333"/>
                          </a:solidFill>
                          <a:latin typeface="Roboto"/>
                        </a:rPr>
                        <a:t>Performance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66040" algn="l">
                        <a:lnSpc>
                          <a:spcPts val="850"/>
                        </a:lnSpc>
                      </a:pPr>
                      <a:r>
                        <a:rPr spc="3" sz="850">
                          <a:solidFill>
                            <a:srgbClr val="333333"/>
                          </a:solidFill>
                          <a:latin typeface="Roboto"/>
                        </a:rPr>
                        <a:t>Synchronous AI API calls.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0"/>
                        </a:lnSpc>
                      </a:pPr>
                    </a:p>
                    <a:p>
                      <a:pPr marL="66040" algn="l">
                        <a:lnSpc>
                          <a:spcPts val="1140"/>
                        </a:lnSpc>
                      </a:pPr>
                      <a:r>
                        <a:rPr spc="-3" sz="850">
                          <a:solidFill>
                            <a:srgbClr val="333333"/>
                          </a:solidFill>
                          <a:latin typeface="Roboto"/>
                        </a:rPr>
                        <a:t>Implement asynchronous task queues</a:t>
                      </a:r>
                      <a:br/>
                      <a:r>
                        <a:rPr spc="-1" sz="850">
                          <a:solidFill>
                            <a:srgbClr val="333333"/>
                          </a:solidFill>
                          <a:latin typeface="Roboto"/>
                        </a:rPr>
                        <a:t>(Celery/Redis) for background generation.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333333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66040" algn="l">
                        <a:lnSpc>
                          <a:spcPts val="850"/>
                        </a:lnSpc>
                      </a:pPr>
                      <a:r>
                        <a:rPr spc="4" sz="850">
                          <a:solidFill>
                            <a:srgbClr val="333333"/>
                          </a:solidFill>
                          <a:latin typeface="Roboto"/>
                        </a:rPr>
                        <a:t>Security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66040" algn="l">
                        <a:lnSpc>
                          <a:spcPts val="850"/>
                        </a:lnSpc>
                      </a:pPr>
                      <a:r>
                        <a:rPr spc="0" sz="850">
                          <a:solidFill>
                            <a:srgbClr val="333333"/>
                          </a:solidFill>
                          <a:latin typeface="Roboto"/>
                        </a:rPr>
                        <a:t>Basic API key environment handling.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0"/>
                        </a:lnSpc>
                      </a:pPr>
                    </a:p>
                    <a:p>
                      <a:pPr marL="66040" algn="l">
                        <a:lnSpc>
                          <a:spcPts val="1140"/>
                        </a:lnSpc>
                      </a:pPr>
                      <a:r>
                        <a:rPr spc="1" sz="850">
                          <a:solidFill>
                            <a:srgbClr val="333333"/>
                          </a:solidFill>
                          <a:latin typeface="Roboto"/>
                        </a:rPr>
                        <a:t>Implement OAuth 2.0, JWT authentication,</a:t>
                      </a:r>
                      <a:br/>
                      <a:r>
                        <a:rPr spc="0" sz="850">
                          <a:solidFill>
                            <a:srgbClr val="333333"/>
                          </a:solidFill>
                          <a:latin typeface="Roboto"/>
                        </a:rPr>
                        <a:t>and enterprise API key vault management.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31800" y="7866380"/>
            <a:ext cx="10477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b="1" sz="1000">
                <a:solidFill>
                  <a:srgbClr val="333333"/>
                </a:solidFill>
                <a:latin typeface="Roboto"/>
              </a:rPr>
              <a:t>Future Roadmap: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35609" y="8058150"/>
          <a:ext cx="6686548" cy="17183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3910"/>
                <a:gridCol w="2540000"/>
                <a:gridCol w="1337309"/>
                <a:gridCol w="2005329"/>
              </a:tblGrid>
              <a:tr h="250190">
                <a:tc>
                  <a:txBody>
                    <a:bodyPr/>
                    <a:lstStyle/>
                    <a:p>
                      <a:pPr>
                        <a:lnSpc>
                          <a:spcPts val="520"/>
                        </a:lnSpc>
                      </a:pPr>
                    </a:p>
                    <a:p>
                      <a:pPr marL="67310" algn="l">
                        <a:lnSpc>
                          <a:spcPts val="850"/>
                        </a:lnSpc>
                      </a:pPr>
                      <a:r>
                        <a:rPr spc="26" b="1" sz="850">
                          <a:solidFill>
                            <a:srgbClr val="333333"/>
                          </a:solidFill>
                          <a:latin typeface="Roboto"/>
                        </a:rPr>
                        <a:t>Phase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445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20"/>
                        </a:lnSpc>
                      </a:pPr>
                    </a:p>
                    <a:p>
                      <a:pPr marL="66040" algn="l">
                        <a:lnSpc>
                          <a:spcPts val="850"/>
                        </a:lnSpc>
                      </a:pPr>
                      <a:r>
                        <a:rPr spc="26" b="1" sz="850">
                          <a:solidFill>
                            <a:srgbClr val="333333"/>
                          </a:solidFill>
                          <a:latin typeface="Roboto"/>
                        </a:rPr>
                        <a:t>Planned Feature / Enhancement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445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20"/>
                        </a:lnSpc>
                      </a:pPr>
                    </a:p>
                    <a:p>
                      <a:pPr marL="67310" algn="l">
                        <a:lnSpc>
                          <a:spcPts val="850"/>
                        </a:lnSpc>
                      </a:pPr>
                      <a:r>
                        <a:rPr spc="19" b="1" sz="850">
                          <a:solidFill>
                            <a:srgbClr val="333333"/>
                          </a:solidFill>
                          <a:latin typeface="Roboto"/>
                        </a:rPr>
                        <a:t>Target Timeline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445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20"/>
                        </a:lnSpc>
                      </a:pPr>
                    </a:p>
                    <a:p>
                      <a:pPr marL="67310" algn="l">
                        <a:lnSpc>
                          <a:spcPts val="850"/>
                        </a:lnSpc>
                      </a:pPr>
                      <a:r>
                        <a:rPr spc="27" b="1" sz="850">
                          <a:solidFill>
                            <a:srgbClr val="333333"/>
                          </a:solidFill>
                          <a:latin typeface="Roboto"/>
                        </a:rPr>
                        <a:t>Expected Impact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445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541019">
                <a:tc>
                  <a:txBody>
                    <a:bodyPr/>
                    <a:lstStyle/>
                    <a:p>
                      <a:pPr>
                        <a:lnSpc>
                          <a:spcPts val="520"/>
                        </a:lnSpc>
                      </a:pPr>
                    </a:p>
                    <a:p>
                      <a:pPr marL="67310" algn="l">
                        <a:lnSpc>
                          <a:spcPts val="850"/>
                        </a:lnSpc>
                      </a:pPr>
                      <a:r>
                        <a:rPr spc="22" b="1" sz="850">
                          <a:solidFill>
                            <a:srgbClr val="333333"/>
                          </a:solidFill>
                          <a:latin typeface="Roboto"/>
                        </a:rPr>
                        <a:t>Phase 1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20"/>
                        </a:lnSpc>
                      </a:pPr>
                    </a:p>
                    <a:p>
                      <a:pPr marL="66040" algn="l">
                        <a:lnSpc>
                          <a:spcPts val="850"/>
                        </a:lnSpc>
                      </a:pPr>
                      <a:r>
                        <a:rPr spc="6" sz="850">
                          <a:solidFill>
                            <a:srgbClr val="333333"/>
                          </a:solidFill>
                          <a:latin typeface="Roboto"/>
                        </a:rPr>
                        <a:t>Cloud User Authentication &amp; Cross-Device Sync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20"/>
                        </a:lnSpc>
                      </a:pPr>
                    </a:p>
                    <a:p>
                      <a:pPr marL="67310" algn="l">
                        <a:lnSpc>
                          <a:spcPts val="850"/>
                        </a:lnSpc>
                      </a:pPr>
                      <a:r>
                        <a:rPr spc="10" sz="850">
                          <a:solidFill>
                            <a:srgbClr val="333333"/>
                          </a:solidFill>
                          <a:latin typeface="Roboto"/>
                        </a:rPr>
                        <a:t>Q2 2026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"/>
                        </a:lnSpc>
                      </a:pPr>
                    </a:p>
                    <a:p>
                      <a:pPr marL="67310" algn="l">
                        <a:lnSpc>
                          <a:spcPts val="1150"/>
                        </a:lnSpc>
                      </a:pPr>
                      <a:r>
                        <a:rPr spc="3" sz="850">
                          <a:solidFill>
                            <a:srgbClr val="333333"/>
                          </a:solidFill>
                          <a:latin typeface="Roboto"/>
                        </a:rPr>
                        <a:t>Enables secure user accounts and</a:t>
                      </a:r>
                      <a:br/>
                      <a:r>
                        <a:rPr spc="-5" sz="850">
                          <a:solidFill>
                            <a:srgbClr val="333333"/>
                          </a:solidFill>
                          <a:latin typeface="Roboto"/>
                        </a:rPr>
                        <a:t>seamless project access across web</a:t>
                      </a:r>
                      <a:br/>
                      <a:r>
                        <a:rPr spc="-5" sz="850">
                          <a:solidFill>
                            <a:srgbClr val="333333"/>
                          </a:solidFill>
                          <a:latin typeface="Roboto"/>
                        </a:rPr>
                        <a:t>and mobile.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98780"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67310" algn="l">
                        <a:lnSpc>
                          <a:spcPts val="850"/>
                        </a:lnSpc>
                      </a:pPr>
                      <a:r>
                        <a:rPr spc="22" b="1" sz="850">
                          <a:solidFill>
                            <a:srgbClr val="333333"/>
                          </a:solidFill>
                          <a:latin typeface="Roboto"/>
                        </a:rPr>
                        <a:t>Phase 2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66040" algn="l">
                        <a:lnSpc>
                          <a:spcPts val="850"/>
                        </a:lnSpc>
                      </a:pPr>
                      <a:r>
                        <a:rPr spc="0" sz="850">
                          <a:solidFill>
                            <a:srgbClr val="333333"/>
                          </a:solidFill>
                          <a:latin typeface="Roboto"/>
                        </a:rPr>
                        <a:t>Custom Voice-over &amp; Audio Panel Narration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67310" algn="l">
                        <a:lnSpc>
                          <a:spcPts val="850"/>
                        </a:lnSpc>
                      </a:pPr>
                      <a:r>
                        <a:rPr spc="10" sz="850">
                          <a:solidFill>
                            <a:srgbClr val="333333"/>
                          </a:solidFill>
                          <a:latin typeface="Roboto"/>
                        </a:rPr>
                        <a:t>Q3 2026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9"/>
                        </a:lnSpc>
                      </a:pPr>
                    </a:p>
                    <a:p>
                      <a:pPr marL="67310" algn="l">
                        <a:lnSpc>
                          <a:spcPts val="1150"/>
                        </a:lnSpc>
                      </a:pPr>
                      <a:r>
                        <a:rPr spc="-14" sz="850">
                          <a:solidFill>
                            <a:srgbClr val="333333"/>
                          </a:solidFill>
                          <a:latin typeface="Roboto"/>
                        </a:rPr>
                        <a:t>Transforms static comics into dynamic</a:t>
                      </a:r>
                      <a:br/>
                      <a:r>
                        <a:rPr spc="-4" sz="850">
                          <a:solidFill>
                            <a:srgbClr val="333333"/>
                          </a:solidFill>
                          <a:latin typeface="Roboto"/>
                        </a:rPr>
                        <a:t>video stories with AI audio synthesis.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28319"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</a:p>
                    <a:p>
                      <a:pPr marL="67310" algn="l">
                        <a:lnSpc>
                          <a:spcPts val="850"/>
                        </a:lnSpc>
                      </a:pPr>
                      <a:r>
                        <a:rPr spc="22" b="1" sz="850">
                          <a:solidFill>
                            <a:srgbClr val="333333"/>
                          </a:solidFill>
                          <a:latin typeface="Roboto"/>
                        </a:rPr>
                        <a:t>Phase 3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"/>
                        </a:lnSpc>
                      </a:pPr>
                    </a:p>
                    <a:p>
                      <a:pPr marL="66040" algn="l">
                        <a:lnSpc>
                          <a:spcPts val="1150"/>
                        </a:lnSpc>
                      </a:pPr>
                      <a:r>
                        <a:rPr spc="-2" sz="850">
                          <a:solidFill>
                            <a:srgbClr val="333333"/>
                          </a:solidFill>
                          <a:latin typeface="Roboto"/>
                        </a:rPr>
                        <a:t>Community Marketplace &amp; Collaborative Comic</a:t>
                      </a:r>
                      <a:br/>
                      <a:r>
                        <a:rPr spc="-3" sz="850">
                          <a:solidFill>
                            <a:srgbClr val="333333"/>
                          </a:solidFill>
                          <a:latin typeface="Roboto"/>
                        </a:rPr>
                        <a:t>Editing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</a:p>
                    <a:p>
                      <a:pPr marL="67310" algn="l">
                        <a:lnSpc>
                          <a:spcPts val="850"/>
                        </a:lnSpc>
                      </a:pPr>
                      <a:r>
                        <a:rPr spc="10" sz="850">
                          <a:solidFill>
                            <a:srgbClr val="333333"/>
                          </a:solidFill>
                          <a:latin typeface="Roboto"/>
                        </a:rPr>
                        <a:t>Q4 2026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"/>
                        </a:lnSpc>
                      </a:pPr>
                    </a:p>
                    <a:p>
                      <a:pPr marL="67310" algn="l">
                        <a:lnSpc>
                          <a:spcPts val="1150"/>
                        </a:lnSpc>
                      </a:pPr>
                      <a:r>
                        <a:rPr spc="-4" sz="850">
                          <a:solidFill>
                            <a:srgbClr val="333333"/>
                          </a:solidFill>
                          <a:latin typeface="Roboto"/>
                        </a:rPr>
                        <a:t>Allows creators to share, co-author,</a:t>
                      </a:r>
                      <a:br/>
                      <a:r>
                        <a:rPr spc="-9" sz="850">
                          <a:solidFill>
                            <a:srgbClr val="333333"/>
                          </a:solidFill>
                          <a:latin typeface="Roboto"/>
                        </a:rPr>
                        <a:t>and monetize their custom comic</a:t>
                      </a:r>
                      <a:br/>
                      <a:r>
                        <a:rPr spc="-15" sz="850">
                          <a:solidFill>
                            <a:srgbClr val="333333"/>
                          </a:solidFill>
                          <a:latin typeface="Roboto"/>
                        </a:rPr>
                        <a:t>templates.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309" cy="1069213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5609" y="363220"/>
          <a:ext cx="6686548" cy="7810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3910"/>
                <a:gridCol w="2540000"/>
                <a:gridCol w="1337309"/>
                <a:gridCol w="2005329"/>
              </a:tblGrid>
              <a:tr h="250189"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67310" algn="l">
                        <a:lnSpc>
                          <a:spcPts val="850"/>
                        </a:lnSpc>
                      </a:pPr>
                      <a:r>
                        <a:rPr spc="26" b="1" sz="850">
                          <a:solidFill>
                            <a:srgbClr val="333333"/>
                          </a:solidFill>
                          <a:latin typeface="Roboto"/>
                        </a:rPr>
                        <a:t>Phase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66040" algn="l">
                        <a:lnSpc>
                          <a:spcPts val="850"/>
                        </a:lnSpc>
                      </a:pPr>
                      <a:r>
                        <a:rPr spc="26" b="1" sz="850">
                          <a:solidFill>
                            <a:srgbClr val="333333"/>
                          </a:solidFill>
                          <a:latin typeface="Roboto"/>
                        </a:rPr>
                        <a:t>Planned Feature / Enhancement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67310" algn="l">
                        <a:lnSpc>
                          <a:spcPts val="850"/>
                        </a:lnSpc>
                      </a:pPr>
                      <a:r>
                        <a:rPr spc="19" b="1" sz="850">
                          <a:solidFill>
                            <a:srgbClr val="333333"/>
                          </a:solidFill>
                          <a:latin typeface="Roboto"/>
                        </a:rPr>
                        <a:t>Target Timeline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67310" algn="l">
                        <a:lnSpc>
                          <a:spcPts val="850"/>
                        </a:lnSpc>
                      </a:pPr>
                      <a:r>
                        <a:rPr spc="27" b="1" sz="850">
                          <a:solidFill>
                            <a:srgbClr val="333333"/>
                          </a:solidFill>
                          <a:latin typeface="Roboto"/>
                        </a:rPr>
                        <a:t>Expected Impact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530860"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67310" algn="l">
                        <a:lnSpc>
                          <a:spcPts val="850"/>
                        </a:lnSpc>
                      </a:pPr>
                      <a:r>
                        <a:rPr spc="22" b="1" sz="850">
                          <a:solidFill>
                            <a:srgbClr val="333333"/>
                          </a:solidFill>
                          <a:latin typeface="Roboto"/>
                        </a:rPr>
                        <a:t>Phase 4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50"/>
                        </a:lnSpc>
                      </a:pPr>
                    </a:p>
                    <a:p>
                      <a:pPr marL="66040" algn="l">
                        <a:lnSpc>
                          <a:spcPts val="1140"/>
                        </a:lnSpc>
                      </a:pPr>
                      <a:r>
                        <a:rPr spc="-1" sz="850">
                          <a:solidFill>
                            <a:srgbClr val="333333"/>
                          </a:solidFill>
                          <a:latin typeface="Roboto"/>
                        </a:rPr>
                        <a:t>Advanced Fine-Tuned Local AI Models for</a:t>
                      </a:r>
                      <a:br/>
                      <a:r>
                        <a:rPr spc="5" sz="850">
                          <a:solidFill>
                            <a:srgbClr val="333333"/>
                          </a:solidFill>
                          <a:latin typeface="Roboto"/>
                        </a:rPr>
                        <a:t>Character Rigging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67310" algn="l">
                        <a:lnSpc>
                          <a:spcPts val="850"/>
                        </a:lnSpc>
                      </a:pPr>
                      <a:r>
                        <a:rPr spc="10" sz="850">
                          <a:solidFill>
                            <a:srgbClr val="333333"/>
                          </a:solidFill>
                          <a:latin typeface="Roboto"/>
                        </a:rPr>
                        <a:t>Q1 2027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0"/>
                        </a:lnSpc>
                      </a:pPr>
                    </a:p>
                    <a:p>
                      <a:pPr marL="67310" algn="l">
                        <a:lnSpc>
                          <a:spcPts val="1140"/>
                        </a:lnSpc>
                      </a:pPr>
                      <a:r>
                        <a:rPr spc="5" sz="850">
                          <a:solidFill>
                            <a:srgbClr val="333333"/>
                          </a:solidFill>
                          <a:latin typeface="Roboto"/>
                        </a:rPr>
                        <a:t>Reduces Gemini API cost overhead</a:t>
                      </a:r>
                      <a:br/>
                      <a:r>
                        <a:rPr spc="-4" sz="850">
                          <a:solidFill>
                            <a:srgbClr val="333333"/>
                          </a:solidFill>
                          <a:latin typeface="Roboto"/>
                        </a:rPr>
                        <a:t>and enables instant offline panel</a:t>
                      </a:r>
                      <a:br/>
                      <a:r>
                        <a:rPr spc="-10" sz="850">
                          <a:solidFill>
                            <a:srgbClr val="333333"/>
                          </a:solidFill>
                          <a:latin typeface="Roboto"/>
                        </a:rPr>
                        <a:t>styling.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
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14159" y="394970"/>
            <a:ext cx="51435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0" b="1" sz="1400">
                <a:solidFill>
                  <a:srgbClr val="2980B9"/>
                </a:solidFill>
                <a:latin typeface="Roboto"/>
              </a:rPr>
              <a:t>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800" y="505459"/>
            <a:ext cx="15748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1600">
                <a:solidFill>
                  <a:srgbClr val="E67E22"/>
                </a:solidFill>
                <a:latin typeface="Noto Sans Symbols"/>
              </a:rPr>
              <a:t>☁</a:t>
            </a:r>
            <a:r>
              <a:rPr spc="87" b="1" sz="1400">
                <a:solidFill>
                  <a:srgbClr val="2C3E50"/>
                </a:solidFill>
                <a:latin typeface="Roboto"/>
              </a:rPr>
              <a:t>SMARTBRIDGE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8909" y="671830"/>
            <a:ext cx="580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sz="1100">
                <a:solidFill>
                  <a:srgbClr val="2980B9"/>
                </a:solidFill>
                <a:latin typeface="Roboto"/>
              </a:rPr>
              <a:t>WALLE</a:t>
            </a:r>
            <a:r>
              <a:rPr spc="-15" sz="1100">
                <a:solidFill>
                  <a:srgbClr val="FFFFFF"/>
                </a:solidFill>
                <a:highlight>
                  <a:srgbClr val="2880b8">
                    <a:alpha val="100000"/>
                  </a:srgbClr>
                </a:highlight>
                <a:latin typeface="Roboto"/>
              </a:rPr>
              <a:t>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7970" y="1083310"/>
            <a:ext cx="19443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400">
                <a:solidFill>
                  <a:srgbClr val="333333"/>
                </a:solidFill>
                <a:latin typeface="Roboto"/>
              </a:rPr>
              <a:t>Project Demo Planning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5609" y="1445260"/>
          <a:ext cx="6686548" cy="12077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2589"/>
                <a:gridCol w="5013959"/>
              </a:tblGrid>
              <a:tr h="300990"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marL="96520" algn="l">
                        <a:lnSpc>
                          <a:spcPts val="1000"/>
                        </a:lnSpc>
                      </a:pPr>
                      <a:r>
                        <a:rPr spc="25" b="1" sz="1000">
                          <a:solidFill>
                            <a:srgbClr val="333333"/>
                          </a:solidFill>
                          <a:latin typeface="Roboto"/>
                        </a:rPr>
                        <a:t>Date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4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marL="95250" algn="l">
                        <a:lnSpc>
                          <a:spcPts val="1000"/>
                        </a:lnSpc>
                      </a:pPr>
                      <a:r>
                        <a:rPr spc="-3" sz="1000">
                          <a:solidFill>
                            <a:srgbClr val="333333"/>
                          </a:solidFill>
                          <a:latin typeface="Roboto"/>
                        </a:rPr>
                        <a:t>15 March 2026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4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96520" algn="l">
                        <a:lnSpc>
                          <a:spcPts val="1000"/>
                        </a:lnSpc>
                      </a:pPr>
                      <a:r>
                        <a:rPr spc="13" b="1" sz="1000">
                          <a:solidFill>
                            <a:srgbClr val="333333"/>
                          </a:solidFill>
                          <a:latin typeface="Roboto"/>
                        </a:rPr>
                        <a:t>Team ID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95250" algn="l">
                        <a:lnSpc>
                          <a:spcPts val="1000"/>
                        </a:lnSpc>
                      </a:pPr>
                      <a:r>
                        <a:rPr spc="17" sz="1000">
                          <a:solidFill>
                            <a:srgbClr val="333333"/>
                          </a:solidFill>
                          <a:latin typeface="Roboto"/>
                        </a:rPr>
                        <a:t>SWTID-2026-9392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9719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6520" algn="l">
                        <a:lnSpc>
                          <a:spcPts val="1000"/>
                        </a:lnSpc>
                      </a:pPr>
                      <a:r>
                        <a:rPr spc="26" b="1" sz="1000">
                          <a:solidFill>
                            <a:srgbClr val="333333"/>
                          </a:solidFill>
                          <a:latin typeface="Roboto"/>
                        </a:rPr>
                        <a:t>Project Name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5250" algn="l">
                        <a:lnSpc>
                          <a:spcPts val="1000"/>
                        </a:lnSpc>
                      </a:pPr>
                      <a:r>
                        <a:rPr spc="3" sz="1000">
                          <a:solidFill>
                            <a:srgbClr val="333333"/>
                          </a:solidFill>
                          <a:latin typeface="Roboto"/>
                        </a:rPr>
                        <a:t>ComicCraft - AI Comic Story Creator using Gemini Models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96520" algn="l">
                        <a:lnSpc>
                          <a:spcPts val="1000"/>
                        </a:lnSpc>
                      </a:pPr>
                      <a:r>
                        <a:rPr spc="22" b="1" sz="1000">
                          <a:solidFill>
                            <a:srgbClr val="333333"/>
                          </a:solidFill>
                          <a:latin typeface="Roboto"/>
                        </a:rPr>
                        <a:t>Maximum Marks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95250" algn="l">
                        <a:lnSpc>
                          <a:spcPts val="1000"/>
                        </a:lnSpc>
                      </a:pPr>
                      <a:r>
                        <a:rPr spc="-3" sz="1000">
                          <a:solidFill>
                            <a:srgbClr val="333333"/>
                          </a:solidFill>
                          <a:latin typeface="Roboto"/>
                        </a:rPr>
                        <a:t>1 Mark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1800" y="2872740"/>
            <a:ext cx="1504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050">
                <a:solidFill>
                  <a:srgbClr val="333333"/>
                </a:solidFill>
                <a:latin typeface="Roboto"/>
              </a:rPr>
              <a:t>Project Demo Planning: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800" y="3105150"/>
            <a:ext cx="66954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950">
                <a:solidFill>
                  <a:srgbClr val="444444"/>
                </a:solidFill>
                <a:latin typeface="Roboto"/>
              </a:rPr>
              <a:t>A well-structured demo plan ensures that the team presents the project effectively, covering all key aspects in a clear 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" y="3274060"/>
            <a:ext cx="669670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950">
                <a:solidFill>
                  <a:srgbClr val="444444"/>
                </a:solidFill>
                <a:latin typeface="Roboto"/>
              </a:rPr>
              <a:t>organized manner. This document outlines the plan for demonstrating the project, including the flow of the demo, key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3442970"/>
            <a:ext cx="293242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950">
                <a:solidFill>
                  <a:srgbClr val="444444"/>
                </a:solidFill>
                <a:latin typeface="Roboto"/>
              </a:rPr>
              <a:t>to highlight, and responsibilities of each team member.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5609" y="3707129"/>
          <a:ext cx="6686548" cy="37452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5450"/>
                <a:gridCol w="1664970"/>
                <a:gridCol w="2793999"/>
                <a:gridCol w="801370"/>
                <a:gridCol w="1000759"/>
              </a:tblGrid>
              <a:tr h="444500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30" b="1" sz="900">
                          <a:solidFill>
                            <a:srgbClr val="333333"/>
                          </a:solidFill>
                          <a:latin typeface="Roboto"/>
                        </a:rPr>
                        <a:t>S.No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4930" algn="l">
                        <a:lnSpc>
                          <a:spcPts val="900"/>
                        </a:lnSpc>
                      </a:pPr>
                      <a:r>
                        <a:rPr spc="35" b="1" sz="900">
                          <a:solidFill>
                            <a:srgbClr val="333333"/>
                          </a:solidFill>
                          <a:latin typeface="Roboto"/>
                        </a:rPr>
                        <a:t>Demo Section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4930" algn="l">
                        <a:lnSpc>
                          <a:spcPts val="900"/>
                        </a:lnSpc>
                      </a:pPr>
                      <a:r>
                        <a:rPr spc="35" b="1" sz="900">
                          <a:solidFill>
                            <a:srgbClr val="333333"/>
                          </a:solidFill>
                          <a:latin typeface="Roboto"/>
                        </a:rPr>
                        <a:t>Description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"/>
                        </a:lnSpc>
                      </a:pPr>
                    </a:p>
                    <a:p>
                      <a:pPr marL="76200" algn="l">
                        <a:lnSpc>
                          <a:spcPts val="1260"/>
                        </a:lnSpc>
                      </a:pPr>
                      <a:r>
                        <a:rPr spc="36" b="1" sz="900">
                          <a:solidFill>
                            <a:srgbClr val="333333"/>
                          </a:solidFill>
                          <a:latin typeface="Roboto"/>
                        </a:rPr>
                        <a:t>Duration</a:t>
                      </a:r>
                      <a:br/>
                      <a:r>
                        <a:rPr spc="18" b="1" sz="900">
                          <a:solidFill>
                            <a:srgbClr val="333333"/>
                          </a:solidFill>
                          <a:latin typeface="Roboto"/>
                        </a:rPr>
                        <a:t>(mins)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"/>
                        </a:lnSpc>
                      </a:pPr>
                    </a:p>
                    <a:p>
                      <a:pPr marL="76200" algn="l">
                        <a:lnSpc>
                          <a:spcPts val="1260"/>
                        </a:lnSpc>
                      </a:pPr>
                      <a:r>
                        <a:rPr spc="41" b="1" sz="900">
                          <a:solidFill>
                            <a:srgbClr val="333333"/>
                          </a:solidFill>
                          <a:latin typeface="Roboto"/>
                        </a:rPr>
                        <a:t>Responsible</a:t>
                      </a:r>
                      <a:br/>
                      <a:r>
                        <a:rPr spc="18" b="1" sz="900">
                          <a:solidFill>
                            <a:srgbClr val="333333"/>
                          </a:solidFill>
                          <a:latin typeface="Roboto"/>
                        </a:rPr>
                        <a:t>Member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4930" algn="l">
                        <a:lnSpc>
                          <a:spcPts val="900"/>
                        </a:lnSpc>
                      </a:pPr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Introduction &amp; Slide Pitch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"/>
                        </a:lnSpc>
                      </a:pPr>
                    </a:p>
                    <a:p>
                      <a:pPr marL="74930" algn="l">
                        <a:lnSpc>
                          <a:spcPts val="1260"/>
                        </a:lnSpc>
                      </a:pPr>
                      <a:r>
                        <a:rPr spc="0" sz="900">
                          <a:solidFill>
                            <a:srgbClr val="333333"/>
                          </a:solidFill>
                          <a:latin typeface="Roboto"/>
                        </a:rPr>
                        <a:t>Introduce the team, project vision, target audience,</a:t>
                      </a:r>
                      <a:br/>
                      <a:r>
                        <a:rPr spc="-10" sz="900">
                          <a:solidFill>
                            <a:srgbClr val="333333"/>
                          </a:solidFill>
                          <a:latin typeface="Roboto"/>
                        </a:rPr>
                        <a:t>and problem statement for automated comic</a:t>
                      </a:r>
                      <a:br/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generation.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6200" algn="l">
                        <a:lnSpc>
                          <a:spcPts val="900"/>
                        </a:lnSpc>
                      </a:pPr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Team Lead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"/>
                        </a:lnSpc>
                      </a:pPr>
                    </a:p>
                    <a:p>
                      <a:pPr marL="74930" algn="l">
                        <a:lnSpc>
                          <a:spcPts val="1260"/>
                        </a:lnSpc>
                      </a:pPr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System Architecture &amp; Tech</a:t>
                      </a:r>
                      <a:br/>
                      <a:r>
                        <a:rPr spc="0" sz="900">
                          <a:solidFill>
                            <a:srgbClr val="333333"/>
                          </a:solidFill>
                          <a:latin typeface="Roboto"/>
                        </a:rPr>
                        <a:t>Stack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"/>
                        </a:lnSpc>
                      </a:pPr>
                    </a:p>
                    <a:p>
                      <a:pPr marL="74930" algn="l">
                        <a:lnSpc>
                          <a:spcPts val="1260"/>
                        </a:lnSpc>
                      </a:pPr>
                      <a:r>
                        <a:rPr spc="-2" sz="900">
                          <a:solidFill>
                            <a:srgbClr val="333333"/>
                          </a:solidFill>
                          <a:latin typeface="Roboto"/>
                        </a:rPr>
                        <a:t>Explain the integration of Gemini AI models for</a:t>
                      </a:r>
                      <a:br/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scriptwriting, prompt engineering, and visual layout</a:t>
                      </a:r>
                      <a:br/>
                      <a:r>
                        <a:rPr spc="0" sz="900">
                          <a:solidFill>
                            <a:srgbClr val="333333"/>
                          </a:solidFill>
                          <a:latin typeface="Roboto"/>
                        </a:rPr>
                        <a:t>rendering.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6200" algn="l">
                        <a:lnSpc>
                          <a:spcPts val="900"/>
                        </a:lnSpc>
                      </a:pPr>
                      <a:r>
                        <a:rPr spc="12" sz="900">
                          <a:solidFill>
                            <a:srgbClr val="333333"/>
                          </a:solidFill>
                          <a:latin typeface="Roboto"/>
                        </a:rPr>
                        <a:t>Backend Dev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0"/>
                        </a:lnSpc>
                      </a:pPr>
                    </a:p>
                    <a:p>
                      <a:pPr marL="74930" algn="l">
                        <a:lnSpc>
                          <a:spcPts val="1260"/>
                        </a:lnSpc>
                      </a:pPr>
                      <a:r>
                        <a:rPr spc="6" sz="900">
                          <a:solidFill>
                            <a:srgbClr val="333333"/>
                          </a:solidFill>
                          <a:latin typeface="Roboto"/>
                        </a:rPr>
                        <a:t>Live Script &amp; Panel</a:t>
                      </a:r>
                      <a:br/>
                      <a:r>
                        <a:rPr spc="5" sz="900">
                          <a:solidFill>
                            <a:srgbClr val="333333"/>
                          </a:solidFill>
                          <a:latin typeface="Roboto"/>
                        </a:rPr>
                        <a:t>Generation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0"/>
                        </a:lnSpc>
                      </a:pPr>
                    </a:p>
                    <a:p>
                      <a:pPr marL="74930" algn="l">
                        <a:lnSpc>
                          <a:spcPts val="1260"/>
                        </a:lnSpc>
                      </a:pPr>
                      <a:r>
                        <a:rPr spc="-8" sz="900">
                          <a:solidFill>
                            <a:srgbClr val="333333"/>
                          </a:solidFill>
                          <a:latin typeface="Roboto"/>
                        </a:rPr>
                        <a:t>Live demo of inputting user prompts and generating </a:t>
                      </a: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multi-panel scripts along with dialogue bubbles.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6200" algn="l">
                        <a:lnSpc>
                          <a:spcPts val="900"/>
                        </a:lnSpc>
                      </a:pPr>
                      <a:r>
                        <a:rPr spc="0" sz="900">
                          <a:solidFill>
                            <a:srgbClr val="333333"/>
                          </a:solidFill>
                          <a:latin typeface="Roboto"/>
                        </a:rPr>
                        <a:t>AI Specialist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"/>
                        </a:lnSpc>
                      </a:pPr>
                    </a:p>
                    <a:p>
                      <a:pPr marL="74930" algn="l">
                        <a:lnSpc>
                          <a:spcPts val="1260"/>
                        </a:lnSpc>
                      </a:pPr>
                      <a:r>
                        <a:rPr spc="8" sz="900">
                          <a:solidFill>
                            <a:srgbClr val="333333"/>
                          </a:solidFill>
                          <a:latin typeface="Roboto"/>
                        </a:rPr>
                        <a:t>Canvas Studio &amp; Export</a:t>
                      </a:r>
                      <a:br/>
                      <a:r>
                        <a:rPr spc="7" sz="900">
                          <a:solidFill>
                            <a:srgbClr val="333333"/>
                          </a:solidFill>
                          <a:latin typeface="Roboto"/>
                        </a:rPr>
                        <a:t>Demo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"/>
                        </a:lnSpc>
                      </a:pPr>
                    </a:p>
                    <a:p>
                      <a:pPr marL="74930" marR="349250" algn="justLow">
                        <a:lnSpc>
                          <a:spcPts val="1260"/>
                        </a:lnSpc>
                      </a:pPr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Showcase the interactive comic layout canvas,</a:t>
                      </a:r>
                      <a:br/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character styling adjustments, and exporting to</a:t>
                      </a:r>
                      <a:br/>
                      <a:r>
                        <a:rPr spc="9" sz="900">
                          <a:solidFill>
                            <a:srgbClr val="333333"/>
                          </a:solidFill>
                          <a:latin typeface="Roboto"/>
                        </a:rPr>
                        <a:t>PDF.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6200" algn="l">
                        <a:lnSpc>
                          <a:spcPts val="900"/>
                        </a:lnSpc>
                      </a:pPr>
                      <a:r>
                        <a:rPr spc="5" sz="900">
                          <a:solidFill>
                            <a:srgbClr val="333333"/>
                          </a:solidFill>
                          <a:latin typeface="Roboto"/>
                        </a:rPr>
                        <a:t>Frontend Dev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43229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4930" algn="l">
                        <a:lnSpc>
                          <a:spcPts val="900"/>
                        </a:lnSpc>
                      </a:pPr>
                      <a:r>
                        <a:rPr spc="1" sz="900">
                          <a:solidFill>
                            <a:srgbClr val="333333"/>
                          </a:solidFill>
                          <a:latin typeface="Roboto"/>
                        </a:rPr>
                        <a:t>Key Features &amp; Innovations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0"/>
                        </a:lnSpc>
                      </a:pPr>
                    </a:p>
                    <a:p>
                      <a:pPr marL="74930" algn="l">
                        <a:lnSpc>
                          <a:spcPts val="1260"/>
                        </a:lnSpc>
                      </a:pPr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Highlight character consistency engines and multi-</a:t>
                      </a:r>
                      <a:br/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language translation capabilities.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6200" algn="l">
                        <a:lnSpc>
                          <a:spcPts val="900"/>
                        </a:lnSpc>
                      </a:pPr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Team Lead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4930" algn="l">
                        <a:lnSpc>
                          <a:spcPts val="900"/>
                        </a:lnSpc>
                      </a:pPr>
                      <a:r>
                        <a:rPr spc="5" sz="900">
                          <a:solidFill>
                            <a:srgbClr val="333333"/>
                          </a:solidFill>
                          <a:latin typeface="Roboto"/>
                        </a:rPr>
                        <a:t>Conclusion &amp; Future Scope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0"/>
                        </a:lnSpc>
                      </a:pPr>
                    </a:p>
                    <a:p>
                      <a:pPr marL="74930" algn="l">
                        <a:lnSpc>
                          <a:spcPts val="1260"/>
                        </a:lnSpc>
                      </a:pPr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Summarize project achievements, potential</a:t>
                      </a:r>
                      <a:br/>
                      <a:r>
                        <a:rPr spc="-8" sz="900">
                          <a:solidFill>
                            <a:srgbClr val="333333"/>
                          </a:solidFill>
                          <a:latin typeface="Roboto"/>
                        </a:rPr>
                        <a:t>commercial applications, and field questions from</a:t>
                      </a:r>
                      <a:br/>
                      <a:r>
                        <a:rPr spc="-7" sz="900">
                          <a:solidFill>
                            <a:srgbClr val="333333"/>
                          </a:solidFill>
                          <a:latin typeface="Roboto"/>
                        </a:rPr>
                        <a:t>evaluators.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6200" algn="l">
                        <a:lnSpc>
                          <a:spcPts val="900"/>
                        </a:lnSpc>
                      </a:pP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All Members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31800" y="7675880"/>
            <a:ext cx="14020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b="1" sz="1050">
                <a:solidFill>
                  <a:srgbClr val="333333"/>
                </a:solidFill>
                <a:latin typeface="Roboto"/>
              </a:rPr>
              <a:t>Demo Flow Summary: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5609" y="7889240"/>
          <a:ext cx="6686549" cy="20446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940"/>
                <a:gridCol w="2139950"/>
                <a:gridCol w="4010659"/>
              </a:tblGrid>
              <a:tr h="283209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7470" algn="l">
                        <a:lnSpc>
                          <a:spcPts val="900"/>
                        </a:lnSpc>
                      </a:pPr>
                      <a:r>
                        <a:rPr spc="32" b="1" sz="900">
                          <a:solidFill>
                            <a:srgbClr val="333333"/>
                          </a:solidFill>
                          <a:latin typeface="Roboto"/>
                        </a:rPr>
                        <a:t>Step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7470" algn="l">
                        <a:lnSpc>
                          <a:spcPts val="900"/>
                        </a:lnSpc>
                      </a:pPr>
                      <a:r>
                        <a:rPr spc="36" b="1" sz="900">
                          <a:solidFill>
                            <a:srgbClr val="333333"/>
                          </a:solidFill>
                          <a:latin typeface="Roboto"/>
                        </a:rPr>
                        <a:t>Activity</a:t>
                      </a:r>
                    </a:p>
                  </a:txBody>
                  <a:tcPr marL="0" marR="0" marT="0" marB="0" vert="horz">
                    <a:lnL w="4444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6200" algn="l">
                        <a:lnSpc>
                          <a:spcPts val="900"/>
                        </a:lnSpc>
                      </a:pPr>
                      <a:r>
                        <a:rPr spc="21" b="1" sz="900">
                          <a:solidFill>
                            <a:srgbClr val="333333"/>
                          </a:solidFill>
                          <a:latin typeface="Roboto"/>
                        </a:rPr>
                        <a:t>Notes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7470" algn="l">
                        <a:lnSpc>
                          <a:spcPts val="900"/>
                        </a:lnSpc>
                      </a:pP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Introduction &amp; Problem Statement</a:t>
                      </a:r>
                    </a:p>
                  </a:txBody>
                  <a:tcPr marL="0" marR="0" marT="0" marB="0" vert="horz">
                    <a:lnL w="4444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"/>
                        </a:lnSpc>
                      </a:pPr>
                    </a:p>
                    <a:p>
                      <a:pPr marL="76200" algn="l">
                        <a:lnSpc>
                          <a:spcPts val="1260"/>
                        </a:lnSpc>
                      </a:pPr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Set up the context of manual comic creation barriers and present</a:t>
                      </a:r>
                      <a:br/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ComicCraft as the solution.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marL="77470" algn="l">
                        <a:lnSpc>
                          <a:spcPts val="900"/>
                        </a:lnSpc>
                      </a:pPr>
                      <a:r>
                        <a:rPr spc="5" sz="900">
                          <a:solidFill>
                            <a:srgbClr val="333333"/>
                          </a:solidFill>
                          <a:latin typeface="Roboto"/>
                        </a:rPr>
                        <a:t>Solution Overview</a:t>
                      </a:r>
                    </a:p>
                  </a:txBody>
                  <a:tcPr marL="0" marR="0" marT="0" marB="0" vert="horz">
                    <a:lnL w="4444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80"/>
                        </a:lnSpc>
                      </a:pPr>
                    </a:p>
                    <a:p>
                      <a:pPr marL="76200" algn="l">
                        <a:lnSpc>
                          <a:spcPts val="1260"/>
                        </a:lnSpc>
                      </a:pPr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Walk through high-level architecture and how Gemini powers both script</a:t>
                      </a:r>
                      <a:br/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logic and layout generation.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7470" algn="l">
                        <a:lnSpc>
                          <a:spcPts val="900"/>
                        </a:lnSpc>
                      </a:pPr>
                      <a:r>
                        <a:rPr spc="-2" sz="900">
                          <a:solidFill>
                            <a:srgbClr val="333333"/>
                          </a:solidFill>
                          <a:latin typeface="Roboto"/>
                        </a:rPr>
                        <a:t>Live Feature Demonstration</a:t>
                      </a:r>
                    </a:p>
                  </a:txBody>
                  <a:tcPr marL="0" marR="0" marT="0" marB="0" vert="horz">
                    <a:lnL w="4444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0"/>
                        </a:lnSpc>
                      </a:pPr>
                    </a:p>
                    <a:p>
                      <a:pPr marL="76200" algn="l">
                        <a:lnSpc>
                          <a:spcPts val="1260"/>
                        </a:lnSpc>
                      </a:pPr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Execute a full end-to-end workflow: prompt → script generation → visual</a:t>
                      </a:r>
                      <a:br/>
                      <a:r>
                        <a:rPr spc="6" sz="900">
                          <a:solidFill>
                            <a:srgbClr val="333333"/>
                          </a:solidFill>
                          <a:latin typeface="Roboto"/>
                        </a:rPr>
                        <a:t>canvas → PDF export.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marL="77470" algn="l">
                        <a:lnSpc>
                          <a:spcPts val="900"/>
                        </a:lnSpc>
                      </a:pPr>
                      <a:r>
                        <a:rPr spc="17" sz="900">
                          <a:solidFill>
                            <a:srgbClr val="333333"/>
                          </a:solidFill>
                          <a:latin typeface="Roboto"/>
                        </a:rPr>
                        <a:t>Q&amp;A Session</a:t>
                      </a:r>
                    </a:p>
                  </a:txBody>
                  <a:tcPr marL="0" marR="0" marT="0" marB="0" vert="horz">
                    <a:lnL w="4444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80"/>
                        </a:lnSpc>
                      </a:pPr>
                    </a:p>
                    <a:p>
                      <a:pPr marL="76200" algn="l">
                        <a:lnSpc>
                          <a:spcPts val="1260"/>
                        </a:lnSpc>
                      </a:pP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Address technical, functional, and scalability questions from mentors and</a:t>
                      </a:r>
                      <a:br/>
                      <a:r>
                        <a:rPr spc="-7" sz="900">
                          <a:solidFill>
                            <a:srgbClr val="333333"/>
                          </a:solidFill>
                          <a:latin typeface="Roboto"/>
                        </a:rPr>
                        <a:t>stakeholders.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
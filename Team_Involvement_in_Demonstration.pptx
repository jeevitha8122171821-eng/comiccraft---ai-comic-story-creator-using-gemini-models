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309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14159" y="391160"/>
            <a:ext cx="514350" cy="1777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0" b="1" sz="1400">
                <a:solidFill>
                  <a:srgbClr val="2980B9"/>
                </a:solidFill>
                <a:latin typeface="Roboto"/>
              </a:rPr>
              <a:t>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1800" y="496570"/>
            <a:ext cx="15748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b="1" sz="1600">
                <a:solidFill>
                  <a:srgbClr val="E67E22"/>
                </a:solidFill>
                <a:latin typeface="Noto Sans Symbols"/>
              </a:rPr>
              <a:t>☁</a:t>
            </a:r>
            <a:r>
              <a:rPr spc="87" b="1" sz="1400">
                <a:solidFill>
                  <a:srgbClr val="2C3E50"/>
                </a:solidFill>
                <a:latin typeface="Roboto"/>
              </a:rPr>
              <a:t>SMARTBRIDGE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18909" y="659130"/>
            <a:ext cx="5803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sz="1100">
                <a:solidFill>
                  <a:srgbClr val="2980B9"/>
                </a:solidFill>
                <a:latin typeface="Roboto"/>
              </a:rPr>
              <a:t>WALLE</a:t>
            </a:r>
            <a:r>
              <a:rPr spc="-15" sz="1100">
                <a:solidFill>
                  <a:srgbClr val="FFFFFF"/>
                </a:solidFill>
                <a:highlight>
                  <a:srgbClr val="2880b8">
                    <a:alpha val="100000"/>
                  </a:srgbClr>
                </a:highlight>
                <a:latin typeface="Roboto"/>
              </a:rPr>
              <a:t> 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9330" y="1013460"/>
            <a:ext cx="304164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b="1" sz="1400">
                <a:solidFill>
                  <a:srgbClr val="333333"/>
                </a:solidFill>
                <a:latin typeface="Roboto"/>
              </a:rPr>
              <a:t>Team Involvement in Demonstration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5609" y="1343660"/>
          <a:ext cx="6686548" cy="10693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2589"/>
                <a:gridCol w="5013959"/>
              </a:tblGrid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77470" algn="l">
                        <a:lnSpc>
                          <a:spcPts val="950"/>
                        </a:lnSpc>
                      </a:pPr>
                      <a:r>
                        <a:rPr spc="23" b="1" sz="950">
                          <a:solidFill>
                            <a:srgbClr val="333333"/>
                          </a:solidFill>
                          <a:latin typeface="Roboto"/>
                        </a:rPr>
                        <a:t>Date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76200" algn="l">
                        <a:lnSpc>
                          <a:spcPts val="950"/>
                        </a:lnSpc>
                      </a:pPr>
                      <a:r>
                        <a:rPr spc="-3" sz="950">
                          <a:solidFill>
                            <a:srgbClr val="333333"/>
                          </a:solidFill>
                          <a:latin typeface="Roboto"/>
                        </a:rPr>
                        <a:t>15 March 2026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77470" algn="l">
                        <a:lnSpc>
                          <a:spcPts val="950"/>
                        </a:lnSpc>
                      </a:pPr>
                      <a:r>
                        <a:rPr spc="13" b="1" sz="950">
                          <a:solidFill>
                            <a:srgbClr val="333333"/>
                          </a:solidFill>
                          <a:latin typeface="Roboto"/>
                        </a:rPr>
                        <a:t>Team ID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76200" algn="l">
                        <a:lnSpc>
                          <a:spcPts val="950"/>
                        </a:lnSpc>
                      </a:pPr>
                      <a:r>
                        <a:rPr spc="17" sz="950">
                          <a:solidFill>
                            <a:srgbClr val="333333"/>
                          </a:solidFill>
                          <a:latin typeface="Roboto"/>
                        </a:rPr>
                        <a:t>SWTID-2026-9392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77470" algn="l">
                        <a:lnSpc>
                          <a:spcPts val="950"/>
                        </a:lnSpc>
                      </a:pPr>
                      <a:r>
                        <a:rPr spc="25" b="1" sz="950">
                          <a:solidFill>
                            <a:srgbClr val="333333"/>
                          </a:solidFill>
                          <a:latin typeface="Roboto"/>
                        </a:rPr>
                        <a:t>Project Name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0"/>
                        </a:lnSpc>
                      </a:pPr>
                    </a:p>
                    <a:p>
                      <a:pPr marL="76200" algn="l">
                        <a:lnSpc>
                          <a:spcPts val="950"/>
                        </a:lnSpc>
                      </a:pPr>
                      <a:r>
                        <a:rPr spc="3" sz="950">
                          <a:solidFill>
                            <a:srgbClr val="333333"/>
                          </a:solidFill>
                          <a:latin typeface="Roboto"/>
                        </a:rPr>
                        <a:t>ComicCraft - AI Comic Story Creator using Gemini Models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7969"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7470" algn="l">
                        <a:lnSpc>
                          <a:spcPts val="950"/>
                        </a:lnSpc>
                      </a:pPr>
                      <a:r>
                        <a:rPr spc="21" b="1" sz="950">
                          <a:solidFill>
                            <a:srgbClr val="333333"/>
                          </a:solidFill>
                          <a:latin typeface="Roboto"/>
                        </a:rPr>
                        <a:t>Maximum Marks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76200" algn="l">
                        <a:lnSpc>
                          <a:spcPts val="950"/>
                        </a:lnSpc>
                      </a:pPr>
                      <a:r>
                        <a:rPr spc="-2" sz="950">
                          <a:solidFill>
                            <a:srgbClr val="333333"/>
                          </a:solidFill>
                          <a:latin typeface="Roboto"/>
                        </a:rPr>
                        <a:t>1 Mark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1800" y="2581910"/>
            <a:ext cx="221488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1" b="1" sz="1000">
                <a:solidFill>
                  <a:srgbClr val="333333"/>
                </a:solidFill>
                <a:latin typeface="Roboto"/>
              </a:rPr>
              <a:t>Team Involvement in Demonstration: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800" y="2790190"/>
            <a:ext cx="6696709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900">
                <a:solidFill>
                  <a:srgbClr val="444444"/>
                </a:solidFill>
                <a:latin typeface="Roboto"/>
              </a:rPr>
              <a:t>This document records the active participation and roles of each team member during the project demonstration. It ensures that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" y="2943860"/>
            <a:ext cx="58483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900">
                <a:solidFill>
                  <a:srgbClr val="444444"/>
                </a:solidFill>
                <a:latin typeface="Roboto"/>
              </a:rPr>
              <a:t>every member contributes meaningfully to the presentation and that responsibilities are distributed fairly and clearly. 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35609" y="3180080"/>
          <a:ext cx="6686547" cy="52374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0209"/>
                <a:gridCol w="1330960"/>
                <a:gridCol w="1200149"/>
                <a:gridCol w="1463040"/>
                <a:gridCol w="1466850"/>
                <a:gridCol w="815339"/>
              </a:tblGrid>
              <a:tr h="558799">
                <a:tc>
                  <a:txBody>
                    <a:bodyPr/>
                    <a:lstStyle/>
                    <a:p>
                      <a:pPr>
                        <a:lnSpc>
                          <a:spcPts val="580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30" b="1" sz="850">
                          <a:solidFill>
                            <a:srgbClr val="333333"/>
                          </a:solidFill>
                          <a:latin typeface="Roboto"/>
                        </a:rPr>
                        <a:t>S.No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80"/>
                        </a:lnSpc>
                      </a:pPr>
                    </a:p>
                    <a:p>
                      <a:pPr marL="74930" algn="l">
                        <a:lnSpc>
                          <a:spcPts val="850"/>
                        </a:lnSpc>
                      </a:pPr>
                      <a:r>
                        <a:rPr spc="13" b="1" sz="850">
                          <a:solidFill>
                            <a:srgbClr val="333333"/>
                          </a:solidFill>
                          <a:latin typeface="Roboto"/>
                        </a:rPr>
                        <a:t>Team Member Name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80"/>
                        </a:lnSpc>
                      </a:pPr>
                    </a:p>
                    <a:p>
                      <a:pPr marL="76200" algn="l">
                        <a:lnSpc>
                          <a:spcPts val="850"/>
                        </a:lnSpc>
                      </a:pPr>
                      <a:r>
                        <a:rPr spc="36" b="1" sz="850">
                          <a:solidFill>
                            <a:srgbClr val="333333"/>
                          </a:solidFill>
                          <a:latin typeface="Roboto"/>
                        </a:rPr>
                        <a:t>Role in Demo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80"/>
                        </a:lnSpc>
                      </a:pPr>
                    </a:p>
                    <a:p>
                      <a:pPr marL="74930" algn="l">
                        <a:lnSpc>
                          <a:spcPts val="850"/>
                        </a:lnSpc>
                      </a:pPr>
                      <a:r>
                        <a:rPr spc="31" b="1" sz="850">
                          <a:solidFill>
                            <a:srgbClr val="333333"/>
                          </a:solidFill>
                          <a:latin typeface="Roboto"/>
                        </a:rPr>
                        <a:t>Section Presented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80"/>
                        </a:lnSpc>
                      </a:pPr>
                    </a:p>
                    <a:p>
                      <a:pPr marL="76200" algn="l">
                        <a:lnSpc>
                          <a:spcPts val="850"/>
                        </a:lnSpc>
                      </a:pPr>
                      <a:r>
                        <a:rPr spc="36" b="1" sz="850">
                          <a:solidFill>
                            <a:srgbClr val="333333"/>
                          </a:solidFill>
                          <a:latin typeface="Roboto"/>
                        </a:rPr>
                        <a:t>Contribution Summary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80"/>
                        </a:lnSpc>
                      </a:pPr>
                    </a:p>
                    <a:p>
                      <a:pPr marL="76200" algn="l">
                        <a:lnSpc>
                          <a:spcPts val="1150"/>
                        </a:lnSpc>
                      </a:pPr>
                      <a:r>
                        <a:rPr spc="26" b="1" sz="850">
                          <a:solidFill>
                            <a:srgbClr val="333333"/>
                          </a:solidFill>
                          <a:latin typeface="Roboto"/>
                        </a:rPr>
                        <a:t>Participation</a:t>
                      </a:r>
                      <a:br/>
                      <a:r>
                        <a:rPr spc="6" b="1" sz="850">
                          <a:solidFill>
                            <a:srgbClr val="333333"/>
                          </a:solidFill>
                          <a:latin typeface="Roboto"/>
                        </a:rPr>
                        <a:t>(Active /</a:t>
                      </a:r>
                      <a:br/>
                      <a:r>
                        <a:rPr spc="22" b="1" sz="850">
                          <a:solidFill>
                            <a:srgbClr val="333333"/>
                          </a:solidFill>
                          <a:latin typeface="Roboto"/>
                        </a:rPr>
                        <a:t>Passive)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lnSpc>
                          <a:spcPts val="600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-8" sz="850">
                          <a:solidFill>
                            <a:srgbClr val="333333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00"/>
                        </a:lnSpc>
                      </a:pPr>
                    </a:p>
                    <a:p>
                      <a:pPr marL="74930" algn="l">
                        <a:lnSpc>
                          <a:spcPts val="850"/>
                        </a:lnSpc>
                      </a:pPr>
                      <a:r>
                        <a:rPr spc="34" b="1" sz="850">
                          <a:solidFill>
                            <a:srgbClr val="333333"/>
                          </a:solidFill>
                          <a:latin typeface="Roboto"/>
                        </a:rPr>
                        <a:t>Lead Developer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00"/>
                        </a:lnSpc>
                      </a:pPr>
                    </a:p>
                    <a:p>
                      <a:pPr marL="76200" algn="l">
                        <a:lnSpc>
                          <a:spcPts val="850"/>
                        </a:lnSpc>
                      </a:pPr>
                      <a:r>
                        <a:rPr spc="8" sz="850">
                          <a:solidFill>
                            <a:srgbClr val="333333"/>
                          </a:solidFill>
                          <a:latin typeface="Roboto"/>
                        </a:rPr>
                        <a:t>Presenter &amp; Lead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00"/>
                        </a:lnSpc>
                      </a:pPr>
                    </a:p>
                    <a:p>
                      <a:pPr marL="74930" algn="l">
                        <a:lnSpc>
                          <a:spcPts val="850"/>
                        </a:lnSpc>
                      </a:pPr>
                      <a:r>
                        <a:rPr spc="-3" sz="850">
                          <a:solidFill>
                            <a:srgbClr val="333333"/>
                          </a:solidFill>
                          <a:latin typeface="Roboto"/>
                        </a:rPr>
                        <a:t>Introduction &amp; Slide Pitch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00"/>
                        </a:lnSpc>
                      </a:pPr>
                    </a:p>
                    <a:p>
                      <a:pPr marL="76200" algn="l">
                        <a:lnSpc>
                          <a:spcPts val="1150"/>
                        </a:lnSpc>
                      </a:pPr>
                      <a:r>
                        <a:rPr spc="-6" sz="850">
                          <a:solidFill>
                            <a:srgbClr val="333333"/>
                          </a:solidFill>
                          <a:latin typeface="Roboto"/>
                        </a:rPr>
                        <a:t>Introduced problem</a:t>
                      </a:r>
                      <a:br/>
                      <a:r>
                        <a:rPr spc="-2" sz="850">
                          <a:solidFill>
                            <a:srgbClr val="333333"/>
                          </a:solidFill>
                          <a:latin typeface="Roboto"/>
                        </a:rPr>
                        <a:t>statement, core value</a:t>
                      </a:r>
                      <a:br/>
                      <a:r>
                        <a:rPr spc="-3" sz="850">
                          <a:solidFill>
                            <a:srgbClr val="333333"/>
                          </a:solidFill>
                          <a:latin typeface="Roboto"/>
                        </a:rPr>
                        <a:t>proposition, and</a:t>
                      </a:r>
                      <a:br/>
                      <a:r>
                        <a:rPr spc="-6" sz="850">
                          <a:solidFill>
                            <a:srgbClr val="333333"/>
                          </a:solidFill>
                          <a:latin typeface="Roboto"/>
                        </a:rPr>
                        <a:t>overarching vision of</a:t>
                      </a:r>
                      <a:br/>
                      <a:r>
                        <a:rPr spc="-5" sz="850">
                          <a:solidFill>
                            <a:srgbClr val="333333"/>
                          </a:solidFill>
                          <a:latin typeface="Roboto"/>
                        </a:rPr>
                        <a:t>ComicCraft.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00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-10" sz="850">
                          <a:solidFill>
                            <a:srgbClr val="333333"/>
                          </a:solidFill>
                          <a:latin typeface="Roboto"/>
                        </a:rPr>
                        <a:t>Active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>
                        <a:lnSpc>
                          <a:spcPts val="590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-8" sz="850">
                          <a:solidFill>
                            <a:srgbClr val="333333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90"/>
                        </a:lnSpc>
                      </a:pPr>
                    </a:p>
                    <a:p>
                      <a:pPr marL="74930" algn="l">
                        <a:lnSpc>
                          <a:spcPts val="850"/>
                        </a:lnSpc>
                      </a:pPr>
                      <a:r>
                        <a:rPr spc="39" b="1" sz="850">
                          <a:solidFill>
                            <a:srgbClr val="333333"/>
                          </a:solidFill>
                          <a:latin typeface="Roboto"/>
                        </a:rPr>
                        <a:t>Backend Engineer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90"/>
                        </a:lnSpc>
                      </a:pPr>
                    </a:p>
                    <a:p>
                      <a:pPr marL="76200" algn="l">
                        <a:lnSpc>
                          <a:spcPts val="850"/>
                        </a:lnSpc>
                      </a:pPr>
                      <a:r>
                        <a:rPr spc="-4" sz="850">
                          <a:solidFill>
                            <a:srgbClr val="333333"/>
                          </a:solidFill>
                          <a:latin typeface="Roboto"/>
                        </a:rPr>
                        <a:t>Technical Presenter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90"/>
                        </a:lnSpc>
                      </a:pPr>
                    </a:p>
                    <a:p>
                      <a:pPr marL="74930" algn="l">
                        <a:lnSpc>
                          <a:spcPts val="1150"/>
                        </a:lnSpc>
                      </a:pPr>
                      <a:r>
                        <a:rPr spc="-2" sz="850">
                          <a:solidFill>
                            <a:srgbClr val="333333"/>
                          </a:solidFill>
                          <a:latin typeface="Roboto"/>
                        </a:rPr>
                        <a:t>System Architecture &amp;</a:t>
                      </a:r>
                      <a:br/>
                      <a:r>
                        <a:rPr spc="-4" sz="850">
                          <a:solidFill>
                            <a:srgbClr val="333333"/>
                          </a:solidFill>
                          <a:latin typeface="Roboto"/>
                        </a:rPr>
                        <a:t>Tech Stack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90"/>
                        </a:lnSpc>
                      </a:pPr>
                    </a:p>
                    <a:p>
                      <a:pPr marL="76200" algn="l">
                        <a:lnSpc>
                          <a:spcPts val="1150"/>
                        </a:lnSpc>
                      </a:pPr>
                      <a:r>
                        <a:rPr spc="9" sz="850">
                          <a:solidFill>
                            <a:srgbClr val="333333"/>
                          </a:solidFill>
                          <a:latin typeface="Roboto"/>
                        </a:rPr>
                        <a:t>Explained Gemini API</a:t>
                      </a:r>
                      <a:br/>
                      <a:r>
                        <a:rPr spc="-8" sz="850">
                          <a:solidFill>
                            <a:srgbClr val="333333"/>
                          </a:solidFill>
                          <a:latin typeface="Roboto"/>
                        </a:rPr>
                        <a:t>integration, prompt</a:t>
                      </a:r>
                      <a:br/>
                      <a:r>
                        <a:rPr spc="-10" sz="850">
                          <a:solidFill>
                            <a:srgbClr val="333333"/>
                          </a:solidFill>
                          <a:latin typeface="Roboto"/>
                        </a:rPr>
                        <a:t>orchestration, and backend </a:t>
                      </a:r>
                      <a:r>
                        <a:rPr spc="0" sz="850">
                          <a:solidFill>
                            <a:srgbClr val="333333"/>
                          </a:solidFill>
                          <a:latin typeface="Roboto"/>
                        </a:rPr>
                        <a:t>rendering pipeline.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90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-10" sz="850">
                          <a:solidFill>
                            <a:srgbClr val="333333"/>
                          </a:solidFill>
                          <a:latin typeface="Roboto"/>
                        </a:rPr>
                        <a:t>Active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708659">
                <a:tc>
                  <a:txBody>
                    <a:bodyPr/>
                    <a:lstStyle/>
                    <a:p>
                      <a:pPr>
                        <a:lnSpc>
                          <a:spcPts val="610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-8" sz="850">
                          <a:solidFill>
                            <a:srgbClr val="333333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10"/>
                        </a:lnSpc>
                      </a:pPr>
                    </a:p>
                    <a:p>
                      <a:pPr marL="74930" algn="l">
                        <a:lnSpc>
                          <a:spcPts val="850"/>
                        </a:lnSpc>
                      </a:pPr>
                      <a:r>
                        <a:rPr spc="29" b="1" sz="850">
                          <a:solidFill>
                            <a:srgbClr val="333333"/>
                          </a:solidFill>
                          <a:latin typeface="Roboto"/>
                        </a:rPr>
                        <a:t>AI Specialist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10"/>
                        </a:lnSpc>
                      </a:pPr>
                    </a:p>
                    <a:p>
                      <a:pPr marL="76200" algn="l">
                        <a:lnSpc>
                          <a:spcPts val="850"/>
                        </a:lnSpc>
                      </a:pPr>
                      <a:r>
                        <a:rPr spc="8" sz="850">
                          <a:solidFill>
                            <a:srgbClr val="333333"/>
                          </a:solidFill>
                          <a:latin typeface="Roboto"/>
                        </a:rPr>
                        <a:t>Live Demo Lead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10"/>
                        </a:lnSpc>
                      </a:pPr>
                    </a:p>
                    <a:p>
                      <a:pPr marL="74930" algn="l">
                        <a:lnSpc>
                          <a:spcPts val="1150"/>
                        </a:lnSpc>
                      </a:pPr>
                      <a:r>
                        <a:rPr spc="6" sz="850">
                          <a:solidFill>
                            <a:srgbClr val="333333"/>
                          </a:solidFill>
                          <a:latin typeface="Roboto"/>
                        </a:rPr>
                        <a:t>Live Script &amp; Panel</a:t>
                      </a:r>
                      <a:br/>
                      <a:r>
                        <a:rPr spc="5" sz="850">
                          <a:solidFill>
                            <a:srgbClr val="333333"/>
                          </a:solidFill>
                          <a:latin typeface="Roboto"/>
                        </a:rPr>
                        <a:t>Generation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10"/>
                        </a:lnSpc>
                      </a:pPr>
                    </a:p>
                    <a:p>
                      <a:pPr marL="76200" algn="l">
                        <a:lnSpc>
                          <a:spcPts val="1150"/>
                        </a:lnSpc>
                      </a:pPr>
                      <a:r>
                        <a:rPr spc="-4" sz="850">
                          <a:solidFill>
                            <a:srgbClr val="333333"/>
                          </a:solidFill>
                          <a:latin typeface="Roboto"/>
                        </a:rPr>
                        <a:t>Demonstrated real-time</a:t>
                      </a:r>
                      <a:br/>
                      <a:r>
                        <a:rPr spc="-3" sz="850">
                          <a:solidFill>
                            <a:srgbClr val="333333"/>
                          </a:solidFill>
                          <a:latin typeface="Roboto"/>
                        </a:rPr>
                        <a:t>story creation, multi-panel</a:t>
                      </a:r>
                      <a:br/>
                      <a:r>
                        <a:rPr spc="-2" sz="850">
                          <a:solidFill>
                            <a:srgbClr val="333333"/>
                          </a:solidFill>
                          <a:latin typeface="Roboto"/>
                        </a:rPr>
                        <a:t>prompt parsing, and</a:t>
                      </a:r>
                      <a:br/>
                      <a:r>
                        <a:rPr spc="-4" sz="850">
                          <a:solidFill>
                            <a:srgbClr val="333333"/>
                          </a:solidFill>
                          <a:latin typeface="Roboto"/>
                        </a:rPr>
                        <a:t>speech bubble positioning.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10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-10" sz="850">
                          <a:solidFill>
                            <a:srgbClr val="333333"/>
                          </a:solidFill>
                          <a:latin typeface="Roboto"/>
                        </a:rPr>
                        <a:t>Active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852170">
                <a:tc>
                  <a:txBody>
                    <a:bodyPr/>
                    <a:lstStyle/>
                    <a:p>
                      <a:pPr>
                        <a:lnSpc>
                          <a:spcPts val="590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-8" sz="850">
                          <a:solidFill>
                            <a:srgbClr val="333333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90"/>
                        </a:lnSpc>
                      </a:pPr>
                    </a:p>
                    <a:p>
                      <a:pPr marL="74930" algn="l">
                        <a:lnSpc>
                          <a:spcPts val="850"/>
                        </a:lnSpc>
                      </a:pPr>
                      <a:r>
                        <a:rPr spc="33" b="1" sz="850">
                          <a:solidFill>
                            <a:srgbClr val="333333"/>
                          </a:solidFill>
                          <a:latin typeface="Roboto"/>
                        </a:rPr>
                        <a:t>Frontend Developer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90"/>
                        </a:lnSpc>
                      </a:pPr>
                    </a:p>
                    <a:p>
                      <a:pPr marL="76200" algn="l">
                        <a:lnSpc>
                          <a:spcPts val="850"/>
                        </a:lnSpc>
                      </a:pPr>
                      <a:r>
                        <a:rPr spc="8" sz="850">
                          <a:solidFill>
                            <a:srgbClr val="333333"/>
                          </a:solidFill>
                          <a:latin typeface="Roboto"/>
                        </a:rPr>
                        <a:t>UI Presenter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90"/>
                        </a:lnSpc>
                      </a:pPr>
                    </a:p>
                    <a:p>
                      <a:pPr marL="74930" algn="l">
                        <a:lnSpc>
                          <a:spcPts val="1150"/>
                        </a:lnSpc>
                      </a:pPr>
                      <a:r>
                        <a:rPr spc="8" sz="850">
                          <a:solidFill>
                            <a:srgbClr val="333333"/>
                          </a:solidFill>
                          <a:latin typeface="Roboto"/>
                        </a:rPr>
                        <a:t>Canvas Studio &amp; Export</a:t>
                      </a:r>
                      <a:br/>
                      <a:r>
                        <a:rPr spc="5" sz="850">
                          <a:solidFill>
                            <a:srgbClr val="333333"/>
                          </a:solidFill>
                          <a:latin typeface="Roboto"/>
                        </a:rPr>
                        <a:t>Demo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90"/>
                        </a:lnSpc>
                      </a:pPr>
                    </a:p>
                    <a:p>
                      <a:pPr marL="76200" algn="l">
                        <a:lnSpc>
                          <a:spcPts val="1150"/>
                        </a:lnSpc>
                      </a:pPr>
                      <a:r>
                        <a:rPr spc="-2" sz="850">
                          <a:solidFill>
                            <a:srgbClr val="333333"/>
                          </a:solidFill>
                          <a:latin typeface="Roboto"/>
                        </a:rPr>
                        <a:t>Showcased character</a:t>
                      </a:r>
                      <a:br/>
                      <a:r>
                        <a:rPr spc="-8" sz="850">
                          <a:solidFill>
                            <a:srgbClr val="333333"/>
                          </a:solidFill>
                          <a:latin typeface="Roboto"/>
                        </a:rPr>
                        <a:t>customizer, canvas</a:t>
                      </a:r>
                      <a:br/>
                      <a:r>
                        <a:rPr spc="-3" sz="850">
                          <a:solidFill>
                            <a:srgbClr val="333333"/>
                          </a:solidFill>
                          <a:latin typeface="Roboto"/>
                        </a:rPr>
                        <a:t>interactive layout, and</a:t>
                      </a:r>
                      <a:br/>
                      <a:r>
                        <a:rPr spc="6" sz="850">
                          <a:solidFill>
                            <a:srgbClr val="333333"/>
                          </a:solidFill>
                          <a:latin typeface="Roboto"/>
                        </a:rPr>
                        <a:t>high-res PDF generation</a:t>
                      </a:r>
                      <a:br/>
                      <a:r>
                        <a:rPr spc="-5" sz="850">
                          <a:solidFill>
                            <a:srgbClr val="333333"/>
                          </a:solidFill>
                          <a:latin typeface="Roboto"/>
                        </a:rPr>
                        <a:t>export.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90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-10" sz="850">
                          <a:solidFill>
                            <a:srgbClr val="333333"/>
                          </a:solidFill>
                          <a:latin typeface="Roboto"/>
                        </a:rPr>
                        <a:t>Active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707390">
                <a:tc>
                  <a:txBody>
                    <a:bodyPr/>
                    <a:lstStyle/>
                    <a:p>
                      <a:pPr>
                        <a:lnSpc>
                          <a:spcPts val="600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-8" sz="850">
                          <a:solidFill>
                            <a:srgbClr val="333333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00"/>
                        </a:lnSpc>
                      </a:pPr>
                    </a:p>
                    <a:p>
                      <a:pPr marL="74930" algn="l">
                        <a:lnSpc>
                          <a:spcPts val="850"/>
                        </a:lnSpc>
                      </a:pPr>
                      <a:r>
                        <a:rPr spc="28" b="1" sz="850">
                          <a:solidFill>
                            <a:srgbClr val="333333"/>
                          </a:solidFill>
                          <a:latin typeface="Roboto"/>
                        </a:rPr>
                        <a:t>Product Strategist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00"/>
                        </a:lnSpc>
                      </a:pPr>
                    </a:p>
                    <a:p>
                      <a:pPr marL="76200" algn="l">
                        <a:lnSpc>
                          <a:spcPts val="850"/>
                        </a:lnSpc>
                      </a:pPr>
                      <a:r>
                        <a:rPr spc="-1" sz="850">
                          <a:solidFill>
                            <a:srgbClr val="333333"/>
                          </a:solidFill>
                          <a:latin typeface="Roboto"/>
                        </a:rPr>
                        <a:t>Feature Pitcher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10"/>
                        </a:lnSpc>
                      </a:pPr>
                    </a:p>
                    <a:p>
                      <a:pPr marL="74930" algn="l">
                        <a:lnSpc>
                          <a:spcPts val="1140"/>
                        </a:lnSpc>
                      </a:pPr>
                      <a:r>
                        <a:rPr spc="9" sz="850">
                          <a:solidFill>
                            <a:srgbClr val="333333"/>
                          </a:solidFill>
                          <a:latin typeface="Roboto"/>
                        </a:rPr>
                        <a:t>Key Features &amp;</a:t>
                      </a:r>
                      <a:br/>
                      <a:r>
                        <a:rPr spc="-10" sz="850">
                          <a:solidFill>
                            <a:srgbClr val="333333"/>
                          </a:solidFill>
                          <a:latin typeface="Roboto"/>
                        </a:rPr>
                        <a:t>Innovations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00"/>
                        </a:lnSpc>
                      </a:pPr>
                    </a:p>
                    <a:p>
                      <a:pPr marL="76200" algn="l">
                        <a:lnSpc>
                          <a:spcPts val="1150"/>
                        </a:lnSpc>
                      </a:pPr>
                      <a:r>
                        <a:rPr spc="-6" sz="850">
                          <a:solidFill>
                            <a:srgbClr val="333333"/>
                          </a:solidFill>
                          <a:latin typeface="Roboto"/>
                        </a:rPr>
                        <a:t>Highlighted character</a:t>
                      </a:r>
                      <a:br/>
                      <a:r>
                        <a:rPr spc="-15" sz="850">
                          <a:solidFill>
                            <a:srgbClr val="333333"/>
                          </a:solidFill>
                          <a:latin typeface="Roboto"/>
                        </a:rPr>
                        <a:t>consistency algorithms and </a:t>
                      </a:r>
                      <a:r>
                        <a:rPr spc="-7" sz="850">
                          <a:solidFill>
                            <a:srgbClr val="333333"/>
                          </a:solidFill>
                          <a:latin typeface="Roboto"/>
                        </a:rPr>
                        <a:t>multi-language translation</a:t>
                      </a:r>
                      <a:br/>
                      <a:r>
                        <a:rPr spc="-23" sz="850">
                          <a:solidFill>
                            <a:srgbClr val="333333"/>
                          </a:solidFill>
                          <a:latin typeface="Roboto"/>
                        </a:rPr>
                        <a:t>workflow.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00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-10" sz="850">
                          <a:solidFill>
                            <a:srgbClr val="333333"/>
                          </a:solidFill>
                          <a:latin typeface="Roboto"/>
                        </a:rPr>
                        <a:t>Active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852169">
                <a:tc>
                  <a:txBody>
                    <a:bodyPr/>
                    <a:lstStyle/>
                    <a:p>
                      <a:pPr>
                        <a:lnSpc>
                          <a:spcPts val="590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-8" sz="850">
                          <a:solidFill>
                            <a:srgbClr val="333333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90"/>
                        </a:lnSpc>
                      </a:pPr>
                    </a:p>
                    <a:p>
                      <a:pPr marL="74930" algn="l">
                        <a:lnSpc>
                          <a:spcPts val="850"/>
                        </a:lnSpc>
                      </a:pPr>
                      <a:r>
                        <a:rPr spc="39" b="1" sz="850">
                          <a:solidFill>
                            <a:srgbClr val="333333"/>
                          </a:solidFill>
                          <a:latin typeface="Roboto"/>
                        </a:rPr>
                        <a:t>QA &amp; Release Lead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90"/>
                        </a:lnSpc>
                      </a:pPr>
                    </a:p>
                    <a:p>
                      <a:pPr marL="76200" algn="l">
                        <a:lnSpc>
                          <a:spcPts val="850"/>
                        </a:lnSpc>
                      </a:pPr>
                      <a:r>
                        <a:rPr spc="8" sz="850">
                          <a:solidFill>
                            <a:srgbClr val="333333"/>
                          </a:solidFill>
                          <a:latin typeface="Roboto"/>
                        </a:rPr>
                        <a:t>Co-Presenter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90"/>
                        </a:lnSpc>
                      </a:pPr>
                    </a:p>
                    <a:p>
                      <a:pPr marL="74930" algn="l">
                        <a:lnSpc>
                          <a:spcPts val="1150"/>
                        </a:lnSpc>
                      </a:pPr>
                      <a:r>
                        <a:rPr spc="3" sz="850">
                          <a:solidFill>
                            <a:srgbClr val="333333"/>
                          </a:solidFill>
                          <a:latin typeface="Roboto"/>
                        </a:rPr>
                        <a:t>Conclusion &amp; Future</a:t>
                      </a:r>
                      <a:br/>
                      <a:r>
                        <a:rPr spc="11" sz="850">
                          <a:solidFill>
                            <a:srgbClr val="333333"/>
                          </a:solidFill>
                          <a:latin typeface="Roboto"/>
                        </a:rPr>
                        <a:t>Scope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90"/>
                        </a:lnSpc>
                      </a:pPr>
                    </a:p>
                    <a:p>
                      <a:pPr marL="76200" algn="l">
                        <a:lnSpc>
                          <a:spcPts val="1150"/>
                        </a:lnSpc>
                      </a:pPr>
                      <a:r>
                        <a:rPr spc="0" sz="850">
                          <a:solidFill>
                            <a:srgbClr val="333333"/>
                          </a:solidFill>
                          <a:latin typeface="Roboto"/>
                        </a:rPr>
                        <a:t>Summarized key</a:t>
                      </a:r>
                      <a:br/>
                      <a:r>
                        <a:rPr spc="-5" sz="850">
                          <a:solidFill>
                            <a:srgbClr val="333333"/>
                          </a:solidFill>
                          <a:latin typeface="Roboto"/>
                        </a:rPr>
                        <a:t>achievements, potential</a:t>
                      </a:r>
                      <a:br/>
                      <a:r>
                        <a:rPr spc="-8" sz="850">
                          <a:solidFill>
                            <a:srgbClr val="333333"/>
                          </a:solidFill>
                          <a:latin typeface="Roboto"/>
                        </a:rPr>
                        <a:t>commercial applications,</a:t>
                      </a:r>
                      <a:br/>
                      <a:r>
                        <a:rPr spc="12" sz="850">
                          <a:solidFill>
                            <a:srgbClr val="333333"/>
                          </a:solidFill>
                          <a:latin typeface="Roboto"/>
                        </a:rPr>
                        <a:t>and co-handled Q&amp;A</a:t>
                      </a:r>
                      <a:br/>
                      <a:r>
                        <a:rPr spc="-4" sz="850">
                          <a:solidFill>
                            <a:srgbClr val="333333"/>
                          </a:solidFill>
                          <a:latin typeface="Roboto"/>
                        </a:rPr>
                        <a:t>session.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90"/>
                        </a:lnSpc>
                      </a:p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pc="-10" sz="850">
                          <a:solidFill>
                            <a:srgbClr val="333333"/>
                          </a:solidFill>
                          <a:latin typeface="Roboto"/>
                        </a:rPr>
                        <a:t>Active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31800" y="8586470"/>
            <a:ext cx="157988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2" b="1" sz="1000">
                <a:solidFill>
                  <a:srgbClr val="333333"/>
                </a:solidFill>
                <a:latin typeface="Roboto"/>
              </a:rPr>
              <a:t>Team Coordination Notes: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35609" y="8778240"/>
          <a:ext cx="6686550" cy="13588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7870"/>
                <a:gridCol w="4678680"/>
              </a:tblGrid>
              <a:tr h="270509">
                <a:tc>
                  <a:txBody>
                    <a:bodyPr/>
                    <a:lstStyle/>
                    <a:p>
                      <a:pPr>
                        <a:lnSpc>
                          <a:spcPts val="60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21" b="1" sz="850">
                          <a:solidFill>
                            <a:srgbClr val="333333"/>
                          </a:solidFill>
                          <a:latin typeface="Roboto"/>
                        </a:rPr>
                        <a:t>Team Leader / Coordinator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445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00"/>
                        </a:lnSpc>
                      </a:pPr>
                    </a:p>
                    <a:p>
                      <a:pPr marL="74930" algn="l">
                        <a:lnSpc>
                          <a:spcPts val="850"/>
                        </a:lnSpc>
                      </a:pPr>
                      <a:r>
                        <a:rPr spc="7" sz="850">
                          <a:solidFill>
                            <a:srgbClr val="333333"/>
                          </a:solidFill>
                          <a:latin typeface="Roboto"/>
                        </a:rPr>
                        <a:t>Team Lead (SWTID-2026-9392)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445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>
                        <a:lnSpc>
                          <a:spcPts val="310"/>
                        </a:lnSpc>
                      </a:pPr>
                    </a:p>
                    <a:p>
                      <a:pPr marL="77470" algn="l">
                        <a:lnSpc>
                          <a:spcPts val="1140"/>
                        </a:lnSpc>
                      </a:pPr>
                      <a:r>
                        <a:rPr spc="30" b="1" sz="850">
                          <a:solidFill>
                            <a:srgbClr val="333333"/>
                          </a:solidFill>
                          <a:latin typeface="Roboto"/>
                        </a:rPr>
                        <a:t>Overall Team Coordination Rating</a:t>
                      </a:r>
                      <a:br/>
                      <a:r>
                        <a:rPr spc="2" b="1" sz="850">
                          <a:solidFill>
                            <a:srgbClr val="333333"/>
                          </a:solidFill>
                          <a:latin typeface="Roboto"/>
                        </a:rPr>
                        <a:t>(1-5)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445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00"/>
                        </a:lnSpc>
                      </a:pPr>
                    </a:p>
                    <a:p>
                      <a:pPr marL="74930" algn="l">
                        <a:lnSpc>
                          <a:spcPts val="850"/>
                        </a:lnSpc>
                      </a:pPr>
                      <a:r>
                        <a:rPr spc="-14" sz="850">
                          <a:solidFill>
                            <a:srgbClr val="333333"/>
                          </a:solidFill>
                          <a:latin typeface="Roboto"/>
                        </a:rPr>
                        <a:t>5 / 5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445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7969">
                <a:tc>
                  <a:txBody>
                    <a:bodyPr/>
                    <a:lstStyle/>
                    <a:p>
                      <a:pPr>
                        <a:lnSpc>
                          <a:spcPts val="60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36" b="1" sz="850">
                          <a:solidFill>
                            <a:srgbClr val="333333"/>
                          </a:solidFill>
                          <a:latin typeface="Roboto"/>
                        </a:rPr>
                        <a:t>Any issues during demo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00"/>
                        </a:lnSpc>
                      </a:pPr>
                    </a:p>
                    <a:p>
                      <a:pPr marL="74930" algn="l">
                        <a:lnSpc>
                          <a:spcPts val="850"/>
                        </a:lnSpc>
                      </a:pPr>
                      <a:r>
                        <a:rPr spc="-1" sz="850">
                          <a:solidFill>
                            <a:srgbClr val="333333"/>
                          </a:solidFill>
                          <a:latin typeface="Roboto"/>
                        </a:rPr>
                        <a:t>Minor network API latency during real-time Gemini prompt generation on panel 3.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>
                        <a:lnSpc>
                          <a:spcPts val="610"/>
                        </a:lnSpc>
                      </a:pPr>
                    </a:p>
                    <a:p>
                      <a:pPr marL="77470" algn="l">
                        <a:lnSpc>
                          <a:spcPts val="850"/>
                        </a:lnSpc>
                      </a:pPr>
                      <a:r>
                        <a:rPr spc="29" b="1" sz="850">
                          <a:solidFill>
                            <a:srgbClr val="333333"/>
                          </a:solidFill>
                          <a:latin typeface="Roboto"/>
                        </a:rPr>
                        <a:t>How issues were resolved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10"/>
                        </a:lnSpc>
                      </a:pPr>
                    </a:p>
                    <a:p>
                      <a:pPr marL="74930" algn="l">
                        <a:lnSpc>
                          <a:spcPts val="1150"/>
                        </a:lnSpc>
                      </a:pPr>
                      <a:r>
                        <a:rPr spc="-3" sz="850">
                          <a:solidFill>
                            <a:srgbClr val="333333"/>
                          </a:solidFill>
                          <a:latin typeface="Roboto"/>
                        </a:rPr>
                        <a:t>Smoothly switched to cached backup response while live generation completed seamlessly in</a:t>
                      </a:r>
                      <a:br/>
                      <a:r>
                        <a:rPr spc="-7" sz="850">
                          <a:solidFill>
                            <a:srgbClr val="333333"/>
                          </a:solidFill>
                          <a:latin typeface="Roboto"/>
                        </a:rPr>
                        <a:t>background.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
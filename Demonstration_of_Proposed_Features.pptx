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14159" y="394970"/>
            <a:ext cx="51435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0" b="1" sz="1400">
                <a:solidFill>
                  <a:srgbClr val="2980B9"/>
                </a:solidFill>
                <a:latin typeface="Roboto"/>
              </a:rPr>
              <a:t>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800" y="505459"/>
            <a:ext cx="1574800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1600">
                <a:solidFill>
                  <a:srgbClr val="E67E22"/>
                </a:solidFill>
                <a:latin typeface="Noto Sans Symbols"/>
              </a:rPr>
              <a:t>☁</a:t>
            </a:r>
            <a:r>
              <a:rPr spc="87" b="1" sz="1400">
                <a:solidFill>
                  <a:srgbClr val="2C3E50"/>
                </a:solidFill>
                <a:latin typeface="Roboto"/>
              </a:rPr>
              <a:t>SMARTBRIDGE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8909" y="671830"/>
            <a:ext cx="580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sz="1100">
                <a:solidFill>
                  <a:srgbClr val="2980B9"/>
                </a:solidFill>
                <a:latin typeface="Roboto"/>
              </a:rPr>
              <a:t>WALLE</a:t>
            </a:r>
            <a:r>
              <a:rPr spc="-15" sz="1100">
                <a:solidFill>
                  <a:srgbClr val="FFFFFF"/>
                </a:solidFill>
                <a:highlight>
                  <a:srgbClr val="2880b8">
                    <a:alpha val="100000"/>
                  </a:srgbClr>
                </a:highlight>
                <a:latin typeface="Roboto"/>
              </a:rPr>
              <a:t>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3610" y="1083310"/>
            <a:ext cx="313309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400">
                <a:solidFill>
                  <a:srgbClr val="333333"/>
                </a:solidFill>
                <a:latin typeface="Roboto"/>
              </a:rPr>
              <a:t>Demonstration of Proposed Features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5609" y="1445260"/>
          <a:ext cx="6686548" cy="12077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2589"/>
                <a:gridCol w="5013959"/>
              </a:tblGrid>
              <a:tr h="300990"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marL="96520" algn="l">
                        <a:lnSpc>
                          <a:spcPts val="1000"/>
                        </a:lnSpc>
                      </a:pPr>
                      <a:r>
                        <a:rPr spc="25" b="1" sz="1000">
                          <a:solidFill>
                            <a:srgbClr val="333333"/>
                          </a:solidFill>
                          <a:latin typeface="Roboto"/>
                        </a:rPr>
                        <a:t>Date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4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</a:p>
                    <a:p>
                      <a:pPr marL="95250" algn="l">
                        <a:lnSpc>
                          <a:spcPts val="1000"/>
                        </a:lnSpc>
                      </a:pPr>
                      <a:r>
                        <a:rPr spc="-3" sz="1000">
                          <a:solidFill>
                            <a:srgbClr val="333333"/>
                          </a:solidFill>
                          <a:latin typeface="Roboto"/>
                        </a:rPr>
                        <a:t>15 March 2026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4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96520" algn="l">
                        <a:lnSpc>
                          <a:spcPts val="1000"/>
                        </a:lnSpc>
                      </a:pPr>
                      <a:r>
                        <a:rPr spc="13" b="1" sz="1000">
                          <a:solidFill>
                            <a:srgbClr val="333333"/>
                          </a:solidFill>
                          <a:latin typeface="Roboto"/>
                        </a:rPr>
                        <a:t>Team ID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marL="95250" algn="l">
                        <a:lnSpc>
                          <a:spcPts val="1000"/>
                        </a:lnSpc>
                      </a:pPr>
                      <a:r>
                        <a:rPr spc="17" sz="1000">
                          <a:solidFill>
                            <a:srgbClr val="333333"/>
                          </a:solidFill>
                          <a:latin typeface="Roboto"/>
                        </a:rPr>
                        <a:t>SWTID-2026-9392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4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9719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6520" algn="l">
                        <a:lnSpc>
                          <a:spcPts val="1000"/>
                        </a:lnSpc>
                      </a:pPr>
                      <a:r>
                        <a:rPr spc="26" b="1" sz="1000">
                          <a:solidFill>
                            <a:srgbClr val="333333"/>
                          </a:solidFill>
                          <a:latin typeface="Roboto"/>
                        </a:rPr>
                        <a:t>Project Name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5250" algn="l">
                        <a:lnSpc>
                          <a:spcPts val="1000"/>
                        </a:lnSpc>
                      </a:pPr>
                      <a:r>
                        <a:rPr spc="3" sz="1000">
                          <a:solidFill>
                            <a:srgbClr val="333333"/>
                          </a:solidFill>
                          <a:latin typeface="Roboto"/>
                        </a:rPr>
                        <a:t>Lekha (ComicCraft - AI Comic Story Creator using Gemini Models)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96520" algn="l">
                        <a:lnSpc>
                          <a:spcPts val="1000"/>
                        </a:lnSpc>
                      </a:pPr>
                      <a:r>
                        <a:rPr spc="22" b="1" sz="1000">
                          <a:solidFill>
                            <a:srgbClr val="333333"/>
                          </a:solidFill>
                          <a:latin typeface="Roboto"/>
                        </a:rPr>
                        <a:t>Maximum Marks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</a:p>
                    <a:p>
                      <a:pPr marL="95250" algn="l">
                        <a:lnSpc>
                          <a:spcPts val="1000"/>
                        </a:lnSpc>
                      </a:pPr>
                      <a:r>
                        <a:rPr spc="-3" sz="1000">
                          <a:solidFill>
                            <a:srgbClr val="333333"/>
                          </a:solidFill>
                          <a:latin typeface="Roboto"/>
                        </a:rPr>
                        <a:t>1 Mark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1800" y="2872740"/>
            <a:ext cx="23964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b="1" sz="1050">
                <a:solidFill>
                  <a:srgbClr val="333333"/>
                </a:solidFill>
                <a:latin typeface="Roboto"/>
              </a:rPr>
              <a:t>Demonstration of Proposed Features: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800" y="3105150"/>
            <a:ext cx="669670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950">
                <a:solidFill>
                  <a:srgbClr val="444444"/>
                </a:solidFill>
                <a:latin typeface="Roboto"/>
              </a:rPr>
              <a:t>This document captures all the features that were proposed during the project planning phase and tracks whether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" y="3274060"/>
            <a:ext cx="66954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950">
                <a:solidFill>
                  <a:srgbClr val="444444"/>
                </a:solidFill>
                <a:latin typeface="Roboto"/>
              </a:rPr>
              <a:t>feature was successfully implemented and demonstrated. It serves as evidence of the team's ability to deliver on 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3442970"/>
            <a:ext cx="10185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950">
                <a:solidFill>
                  <a:srgbClr val="444444"/>
                </a:solidFill>
                <a:latin typeface="Roboto"/>
              </a:rPr>
              <a:t>proposed solution.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5609" y="3707129"/>
          <a:ext cx="6686547" cy="44119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1320"/>
                <a:gridCol w="1424939"/>
                <a:gridCol w="2175510"/>
                <a:gridCol w="998220"/>
                <a:gridCol w="894079"/>
                <a:gridCol w="792479"/>
              </a:tblGrid>
              <a:tr h="744220"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30" b="1" sz="900">
                          <a:solidFill>
                            <a:srgbClr val="333333"/>
                          </a:solidFill>
                          <a:latin typeface="Roboto"/>
                        </a:rPr>
                        <a:t>S.No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57150" algn="l">
                        <a:lnSpc>
                          <a:spcPts val="900"/>
                        </a:lnSpc>
                      </a:pPr>
                      <a:r>
                        <a:rPr spc="24" b="1" sz="900">
                          <a:solidFill>
                            <a:srgbClr val="333333"/>
                          </a:solidFill>
                          <a:latin typeface="Roboto"/>
                        </a:rPr>
                        <a:t>Feature Name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55880" algn="l">
                        <a:lnSpc>
                          <a:spcPts val="900"/>
                        </a:lnSpc>
                      </a:pPr>
                      <a:r>
                        <a:rPr spc="36" b="1" sz="900">
                          <a:solidFill>
                            <a:srgbClr val="333333"/>
                          </a:solidFill>
                          <a:latin typeface="Roboto"/>
                        </a:rPr>
                        <a:t>Description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57150" algn="l">
                        <a:lnSpc>
                          <a:spcPts val="1260"/>
                        </a:lnSpc>
                      </a:pPr>
                      <a:r>
                        <a:rPr spc="29" b="1" sz="900">
                          <a:solidFill>
                            <a:srgbClr val="333333"/>
                          </a:solidFill>
                          <a:latin typeface="Roboto"/>
                        </a:rPr>
                        <a:t>Status</a:t>
                      </a:r>
                      <a:br/>
                      <a:r>
                        <a:rPr spc="12" b="1" sz="900">
                          <a:solidFill>
                            <a:srgbClr val="333333"/>
                          </a:solidFill>
                          <a:latin typeface="Roboto"/>
                        </a:rPr>
                        <a:t>(Implemented /</a:t>
                      </a:r>
                      <a:br/>
                      <a:r>
                        <a:rPr spc="9" b="1" sz="900">
                          <a:solidFill>
                            <a:srgbClr val="333333"/>
                          </a:solidFill>
                          <a:latin typeface="Roboto"/>
                        </a:rPr>
                        <a:t>Partial /</a:t>
                      </a:r>
                      <a:br/>
                      <a:r>
                        <a:rPr spc="33" b="1" sz="900">
                          <a:solidFill>
                            <a:srgbClr val="333333"/>
                          </a:solidFill>
                          <a:latin typeface="Roboto"/>
                        </a:rPr>
                        <a:t>Pending)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57150" algn="l">
                        <a:lnSpc>
                          <a:spcPts val="1260"/>
                        </a:lnSpc>
                      </a:pPr>
                      <a:r>
                        <a:rPr spc="29" b="1" sz="900">
                          <a:solidFill>
                            <a:srgbClr val="333333"/>
                          </a:solidFill>
                          <a:latin typeface="Roboto"/>
                        </a:rPr>
                        <a:t>Demonstrated</a:t>
                      </a:r>
                      <a:br/>
                      <a:r>
                        <a:rPr spc="3" b="1" sz="900">
                          <a:solidFill>
                            <a:srgbClr val="333333"/>
                          </a:solidFill>
                          <a:latin typeface="Roboto"/>
                        </a:rPr>
                        <a:t>(Yes / No)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55880" algn="l">
                        <a:lnSpc>
                          <a:spcPts val="900"/>
                        </a:lnSpc>
                      </a:pPr>
                      <a:r>
                        <a:rPr spc="37" b="1" sz="900">
                          <a:solidFill>
                            <a:srgbClr val="333333"/>
                          </a:solidFill>
                          <a:latin typeface="Roboto"/>
                        </a:rPr>
                        <a:t>Remarks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445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744220"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57150" algn="l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AI Script Generation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-2" sz="900">
                          <a:solidFill>
                            <a:srgbClr val="333333"/>
                          </a:solidFill>
                          <a:latin typeface="Roboto"/>
                        </a:rPr>
                        <a:t>Generates full comic scripts, panel</a:t>
                      </a:r>
                      <a:br/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descriptions, and dialogue using Gemini </a:t>
                      </a:r>
                      <a:r>
                        <a:rPr spc="-2" sz="900">
                          <a:solidFill>
                            <a:srgbClr val="333333"/>
                          </a:solidFill>
                          <a:latin typeface="Roboto"/>
                        </a:rPr>
                        <a:t>API models based on user prompt</a:t>
                      </a:r>
                      <a:br/>
                      <a:r>
                        <a:rPr spc="-10" sz="900">
                          <a:solidFill>
                            <a:srgbClr val="333333"/>
                          </a:solidFill>
                          <a:latin typeface="Roboto"/>
                        </a:rPr>
                        <a:t>inputs.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57150" algn="l">
                        <a:lnSpc>
                          <a:spcPts val="900"/>
                        </a:lnSpc>
                      </a:pPr>
                      <a:r>
                        <a:rPr spc="-9" sz="900">
                          <a:solidFill>
                            <a:srgbClr val="333333"/>
                          </a:solidFill>
                          <a:latin typeface="Roboto"/>
                        </a:rPr>
                        <a:t>Implemented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-2" sz="900">
                          <a:solidFill>
                            <a:srgbClr val="333333"/>
                          </a:solidFill>
                          <a:latin typeface="Roboto"/>
                        </a:rPr>
                        <a:t>Works</a:t>
                      </a:r>
                      <a:br/>
                      <a:r>
                        <a:rPr spc="-16" sz="900">
                          <a:solidFill>
                            <a:srgbClr val="333333"/>
                          </a:solidFill>
                          <a:latin typeface="Roboto"/>
                        </a:rPr>
                        <a:t>smoothly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7150" algn="l">
                        <a:lnSpc>
                          <a:spcPts val="1260"/>
                        </a:lnSpc>
                      </a:pPr>
                      <a:r>
                        <a:rPr spc="0" sz="900">
                          <a:solidFill>
                            <a:srgbClr val="333333"/>
                          </a:solidFill>
                          <a:latin typeface="Roboto"/>
                        </a:rPr>
                        <a:t>Comic Panel Layout</a:t>
                      </a:r>
                      <a:br/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Studio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Interactive canvas to arrange comic</a:t>
                      </a:r>
                      <a:br/>
                      <a:r>
                        <a:rPr spc="4" sz="900">
                          <a:solidFill>
                            <a:srgbClr val="333333"/>
                          </a:solidFill>
                          <a:latin typeface="Roboto"/>
                        </a:rPr>
                        <a:t>panels, speeches, text balloons, and</a:t>
                      </a:r>
                      <a:br/>
                      <a:r>
                        <a:rPr spc="-9" sz="900">
                          <a:solidFill>
                            <a:srgbClr val="333333"/>
                          </a:solidFill>
                          <a:latin typeface="Roboto"/>
                        </a:rPr>
                        <a:t>asset positioning dynamically.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57150" algn="l">
                        <a:lnSpc>
                          <a:spcPts val="900"/>
                        </a:lnSpc>
                      </a:pPr>
                      <a:r>
                        <a:rPr spc="-9" sz="900">
                          <a:solidFill>
                            <a:srgbClr val="333333"/>
                          </a:solidFill>
                          <a:latin typeface="Roboto"/>
                        </a:rPr>
                        <a:t>Implemented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35" sz="900">
                          <a:solidFill>
                            <a:srgbClr val="333333"/>
                          </a:solidFill>
                          <a:latin typeface="Roboto"/>
                        </a:rPr>
                        <a:t>UI</a:t>
                      </a:r>
                      <a:br/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responsive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88009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57150" algn="l">
                        <a:lnSpc>
                          <a:spcPts val="900"/>
                        </a:lnSpc>
                      </a:pPr>
                      <a:r>
                        <a:rPr spc="-2" sz="900">
                          <a:solidFill>
                            <a:srgbClr val="333333"/>
                          </a:solidFill>
                          <a:latin typeface="Roboto"/>
                        </a:rPr>
                        <a:t>Image Prompt Synthesis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Converts panel descriptions into fine-</a:t>
                      </a:r>
                      <a:br/>
                      <a:r>
                        <a:rPr spc="-11" sz="900">
                          <a:solidFill>
                            <a:srgbClr val="333333"/>
                          </a:solidFill>
                          <a:latin typeface="Roboto"/>
                        </a:rPr>
                        <a:t>tuned visual prompt strings for AI image </a:t>
                      </a:r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generation.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57150" algn="l">
                        <a:lnSpc>
                          <a:spcPts val="900"/>
                        </a:lnSpc>
                      </a:pPr>
                      <a:r>
                        <a:rPr spc="-9" sz="900">
                          <a:solidFill>
                            <a:srgbClr val="333333"/>
                          </a:solidFill>
                          <a:latin typeface="Roboto"/>
                        </a:rPr>
                        <a:t>Implemented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High</a:t>
                      </a:r>
                      <a:br/>
                      <a:r>
                        <a:rPr spc="-2" sz="900">
                          <a:solidFill>
                            <a:srgbClr val="333333"/>
                          </a:solidFill>
                          <a:latin typeface="Roboto"/>
                        </a:rPr>
                        <a:t>accuracy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"/>
                        </a:lnSpc>
                      </a:pPr>
                    </a:p>
                    <a:p>
                      <a:pPr marL="57150" algn="l">
                        <a:lnSpc>
                          <a:spcPts val="1260"/>
                        </a:lnSpc>
                      </a:pPr>
                      <a:r>
                        <a:rPr spc="1" sz="900">
                          <a:solidFill>
                            <a:srgbClr val="333333"/>
                          </a:solidFill>
                          <a:latin typeface="Roboto"/>
                        </a:rPr>
                        <a:t>Character Consistency</a:t>
                      </a:r>
                      <a:br/>
                      <a:r>
                        <a:rPr spc="15" sz="900">
                          <a:solidFill>
                            <a:srgbClr val="333333"/>
                          </a:solidFill>
                          <a:latin typeface="Roboto"/>
                        </a:rPr>
                        <a:t>Engine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Maintains visual and narrative</a:t>
                      </a:r>
                      <a:br/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consistency across generated comic</a:t>
                      </a:r>
                      <a:br/>
                      <a:r>
                        <a:rPr spc="-4" sz="900">
                          <a:solidFill>
                            <a:srgbClr val="333333"/>
                          </a:solidFill>
                          <a:latin typeface="Roboto"/>
                        </a:rPr>
                        <a:t>panels for primary characters.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marL="57150" algn="l">
                        <a:lnSpc>
                          <a:spcPts val="900"/>
                        </a:lnSpc>
                      </a:pPr>
                      <a:r>
                        <a:rPr spc="-9" sz="900">
                          <a:solidFill>
                            <a:srgbClr val="333333"/>
                          </a:solidFill>
                          <a:latin typeface="Roboto"/>
                        </a:rPr>
                        <a:t>Implemented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-19" sz="900">
                          <a:solidFill>
                            <a:srgbClr val="333333"/>
                          </a:solidFill>
                          <a:latin typeface="Roboto"/>
                        </a:rPr>
                        <a:t>Tested</a:t>
                      </a:r>
                      <a:br/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across 5</a:t>
                      </a:r>
                      <a:br/>
                      <a:r>
                        <a:rPr spc="-1" sz="900">
                          <a:solidFill>
                            <a:srgbClr val="333333"/>
                          </a:solidFill>
                          <a:latin typeface="Roboto"/>
                        </a:rPr>
                        <a:t>panels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85469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10" sz="900">
                          <a:solidFill>
                            <a:srgbClr val="333333"/>
                          </a:solidFill>
                          <a:latin typeface="Roboto"/>
                        </a:rPr>
                        <a:t>PDF Export &amp; Publishing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5880" marR="69850" algn="justLow">
                        <a:lnSpc>
                          <a:spcPts val="1260"/>
                        </a:lnSpc>
                      </a:pPr>
                      <a:r>
                        <a:rPr spc="-10" sz="900">
                          <a:solidFill>
                            <a:srgbClr val="333333"/>
                          </a:solidFill>
                          <a:latin typeface="Roboto"/>
                        </a:rPr>
                        <a:t>Exports the completed multi-page comic </a:t>
                      </a: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book as high-resolution PDF or printable </a:t>
                      </a:r>
                      <a:r>
                        <a:rPr spc="-9" sz="900">
                          <a:solidFill>
                            <a:srgbClr val="333333"/>
                          </a:solidFill>
                          <a:latin typeface="Roboto"/>
                        </a:rPr>
                        <a:t>image files.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57150" algn="l">
                        <a:lnSpc>
                          <a:spcPts val="900"/>
                        </a:lnSpc>
                      </a:pPr>
                      <a:r>
                        <a:rPr spc="-9" sz="900">
                          <a:solidFill>
                            <a:srgbClr val="333333"/>
                          </a:solidFill>
                          <a:latin typeface="Roboto"/>
                        </a:rPr>
                        <a:t>Implemented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38" sz="900">
                          <a:solidFill>
                            <a:srgbClr val="333333"/>
                          </a:solidFill>
                          <a:latin typeface="Roboto"/>
                        </a:rPr>
                        <a:t>PDF</a:t>
                      </a:r>
                      <a:br/>
                      <a:r>
                        <a:rPr spc="-10" sz="900">
                          <a:solidFill>
                            <a:srgbClr val="333333"/>
                          </a:solidFill>
                          <a:latin typeface="Roboto"/>
                        </a:rPr>
                        <a:t>download</a:t>
                      </a:r>
                      <a:br/>
                      <a:r>
                        <a:rPr spc="-8" sz="900">
                          <a:solidFill>
                            <a:srgbClr val="333333"/>
                          </a:solidFill>
                          <a:latin typeface="Roboto"/>
                        </a:rPr>
                        <a:t>verified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7150" algn="l">
                        <a:lnSpc>
                          <a:spcPts val="1260"/>
                        </a:lnSpc>
                      </a:pPr>
                      <a:r>
                        <a:rPr spc="-2" sz="900">
                          <a:solidFill>
                            <a:srgbClr val="333333"/>
                          </a:solidFill>
                          <a:latin typeface="Roboto"/>
                        </a:rPr>
                        <a:t>Multi-Language</a:t>
                      </a:r>
                      <a:br/>
                      <a:r>
                        <a:rPr spc="-16" sz="900">
                          <a:solidFill>
                            <a:srgbClr val="333333"/>
                          </a:solidFill>
                          <a:latin typeface="Roboto"/>
                        </a:rPr>
                        <a:t>Translation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-3" sz="900">
                          <a:solidFill>
                            <a:srgbClr val="333333"/>
                          </a:solidFill>
                          <a:latin typeface="Roboto"/>
                        </a:rPr>
                        <a:t>Translates speech bubbles and</a:t>
                      </a:r>
                      <a:br/>
                      <a:r>
                        <a:rPr spc="-8" sz="900">
                          <a:solidFill>
                            <a:srgbClr val="333333"/>
                          </a:solidFill>
                          <a:latin typeface="Roboto"/>
                        </a:rPr>
                        <a:t>dialogues into regional languages using </a:t>
                      </a:r>
                      <a:r>
                        <a:rPr spc="-6" sz="900">
                          <a:solidFill>
                            <a:srgbClr val="333333"/>
                          </a:solidFill>
                          <a:latin typeface="Roboto"/>
                        </a:rPr>
                        <a:t>Gemini's multilingual features.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57150" algn="l">
                        <a:lnSpc>
                          <a:spcPts val="900"/>
                        </a:lnSpc>
                      </a:pPr>
                      <a:r>
                        <a:rPr spc="-9" sz="900">
                          <a:solidFill>
                            <a:srgbClr val="333333"/>
                          </a:solidFill>
                          <a:latin typeface="Roboto"/>
                        </a:rPr>
                        <a:t>Implemented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algn="ctr">
                        <a:lnSpc>
                          <a:spcPts val="900"/>
                        </a:lnSpc>
                      </a:pPr>
                      <a:r>
                        <a:rPr spc="-5" sz="900">
                          <a:solidFill>
                            <a:srgbClr val="333333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"/>
                        </a:lnSpc>
                      </a:pPr>
                    </a:p>
                    <a:p>
                      <a:pPr marL="55880" algn="l">
                        <a:lnSpc>
                          <a:spcPts val="1260"/>
                        </a:lnSpc>
                      </a:pPr>
                      <a:r>
                        <a:rPr spc="1" sz="900">
                          <a:solidFill>
                            <a:srgbClr val="333333"/>
                          </a:solidFill>
                          <a:latin typeface="Roboto"/>
                        </a:rPr>
                        <a:t>Supports</a:t>
                      </a:r>
                      <a:br/>
                      <a:r>
                        <a:rPr spc="11" sz="900">
                          <a:solidFill>
                            <a:srgbClr val="333333"/>
                          </a:solidFill>
                          <a:latin typeface="Roboto"/>
                        </a:rPr>
                        <a:t>English &amp;</a:t>
                      </a:r>
                      <a:br/>
                      <a:r>
                        <a:rPr spc="-7" sz="900">
                          <a:solidFill>
                            <a:srgbClr val="333333"/>
                          </a:solidFill>
                          <a:latin typeface="Roboto"/>
                        </a:rPr>
                        <a:t>Hindi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31800" y="8342630"/>
            <a:ext cx="21958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1050">
                <a:solidFill>
                  <a:srgbClr val="333333"/>
                </a:solidFill>
                <a:latin typeface="Roboto"/>
              </a:rPr>
              <a:t>Feature Implementation Summary: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5609" y="8555990"/>
          <a:ext cx="6686548" cy="1156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169"/>
                <a:gridCol w="3675379"/>
              </a:tblGrid>
              <a:tr h="293369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6520" algn="l">
                        <a:lnSpc>
                          <a:spcPts val="950"/>
                        </a:lnSpc>
                      </a:pPr>
                      <a:r>
                        <a:rPr spc="28" b="1" sz="950">
                          <a:solidFill>
                            <a:srgbClr val="333333"/>
                          </a:solidFill>
                          <a:latin typeface="Roboto"/>
                        </a:rPr>
                        <a:t>Total Features Proposed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398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333333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96520" algn="l">
                        <a:lnSpc>
                          <a:spcPts val="950"/>
                        </a:lnSpc>
                      </a:pPr>
                      <a:r>
                        <a:rPr spc="23" b="1" sz="950">
                          <a:solidFill>
                            <a:srgbClr val="333333"/>
                          </a:solidFill>
                          <a:latin typeface="Roboto"/>
                        </a:rPr>
                        <a:t>Total Features Implemented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20"/>
                        </a:lnSpc>
                      </a:pPr>
                    </a:p>
                    <a:p>
                      <a:pPr marL="9398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333333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6520" algn="l">
                        <a:lnSpc>
                          <a:spcPts val="950"/>
                        </a:lnSpc>
                      </a:pPr>
                      <a:r>
                        <a:rPr spc="26" b="1" sz="950">
                          <a:solidFill>
                            <a:srgbClr val="333333"/>
                          </a:solidFill>
                          <a:latin typeface="Roboto"/>
                        </a:rPr>
                        <a:t>Total Features Demonstrated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398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333333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6520" algn="l">
                        <a:lnSpc>
                          <a:spcPts val="950"/>
                        </a:lnSpc>
                      </a:pPr>
                      <a:r>
                        <a:rPr spc="32" b="1" sz="950">
                          <a:solidFill>
                            <a:srgbClr val="333333"/>
                          </a:solidFill>
                          <a:latin typeface="Roboto"/>
                        </a:rPr>
                        <a:t>Overall Implementation Rate (%)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30"/>
                        </a:lnSpc>
                      </a:pPr>
                    </a:p>
                    <a:p>
                      <a:pPr marL="93980" algn="l">
                        <a:lnSpc>
                          <a:spcPts val="950"/>
                        </a:lnSpc>
                      </a:pPr>
                      <a:r>
                        <a:rPr spc="33" sz="950">
                          <a:solidFill>
                            <a:srgbClr val="333333"/>
                          </a:solidFill>
                          <a:latin typeface="Roboto"/>
                        </a:rPr>
                        <a:t>100%</a:t>
                      </a:r>
                    </a:p>
                  </a:txBody>
                  <a:tcPr marL="0" marR="0" marT="0" marB="0" vert="horz">
                    <a:lnL w="4762" cap="flat" cmpd="sng" algn="ctr">
                      <a:solidFill>
                        <a:srgbClr val="444444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444444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444444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44444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